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57" r:id="rId3"/>
    <p:sldId id="259" r:id="rId4"/>
    <p:sldId id="263" r:id="rId5"/>
    <p:sldId id="264" r:id="rId6"/>
    <p:sldId id="265" r:id="rId7"/>
    <p:sldId id="258" r:id="rId8"/>
    <p:sldId id="260" r:id="rId9"/>
    <p:sldId id="261" r:id="rId10"/>
    <p:sldId id="262"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EF56DB-6447-4E9A-8D0B-327B958AB26D}" type="datetimeFigureOut">
              <a:rPr lang="en-US" smtClean="0"/>
              <a:t>10/28/2025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7476D98-D61B-4655-9F07-885518B2E134}" type="slidenum">
              <a:rPr lang="en-US" smtClean="0"/>
              <a:t>‹#›</a:t>
            </a:fld>
            <a:endParaRPr lang="en-US"/>
          </a:p>
        </p:txBody>
      </p:sp>
    </p:spTree>
    <p:extLst>
      <p:ext uri="{BB962C8B-B14F-4D97-AF65-F5344CB8AC3E}">
        <p14:creationId xmlns:p14="http://schemas.microsoft.com/office/powerpoint/2010/main" val="9051794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42F0ED-5252-4C0D-3BA2-BA6ECDF9073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4F6E366-4DE2-8E81-1DC3-0AEE197AF61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8C19ECA-A45F-0986-41DE-E73470F3D075}"/>
              </a:ext>
            </a:extLst>
          </p:cNvPr>
          <p:cNvSpPr>
            <a:spLocks noGrp="1"/>
          </p:cNvSpPr>
          <p:nvPr>
            <p:ph type="dt" sz="half" idx="10"/>
          </p:nvPr>
        </p:nvSpPr>
        <p:spPr/>
        <p:txBody>
          <a:bodyPr/>
          <a:lstStyle/>
          <a:p>
            <a:fld id="{36A8A127-BB09-41A4-B1CB-CF09F8E9604A}" type="datetime1">
              <a:rPr lang="en-US" smtClean="0"/>
              <a:t>10/28/2025</a:t>
            </a:fld>
            <a:endParaRPr lang="en-US"/>
          </a:p>
        </p:txBody>
      </p:sp>
      <p:sp>
        <p:nvSpPr>
          <p:cNvPr id="5" name="Footer Placeholder 4">
            <a:extLst>
              <a:ext uri="{FF2B5EF4-FFF2-40B4-BE49-F238E27FC236}">
                <a16:creationId xmlns:a16="http://schemas.microsoft.com/office/drawing/2014/main" id="{246DC80E-2DDD-1136-4BC6-B4406DBF7B7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C6432E-64B5-4716-F794-CD0C848FE6AA}"/>
              </a:ext>
            </a:extLst>
          </p:cNvPr>
          <p:cNvSpPr>
            <a:spLocks noGrp="1"/>
          </p:cNvSpPr>
          <p:nvPr>
            <p:ph type="sldNum" sz="quarter" idx="12"/>
          </p:nvPr>
        </p:nvSpPr>
        <p:spPr/>
        <p:txBody>
          <a:bodyPr/>
          <a:lstStyle/>
          <a:p>
            <a:fld id="{1FCEF87E-815D-44D1-B0AB-39AF0402D6A8}" type="slidenum">
              <a:rPr lang="en-US" smtClean="0"/>
              <a:t>‹#›</a:t>
            </a:fld>
            <a:endParaRPr lang="en-US"/>
          </a:p>
        </p:txBody>
      </p:sp>
    </p:spTree>
    <p:extLst>
      <p:ext uri="{BB962C8B-B14F-4D97-AF65-F5344CB8AC3E}">
        <p14:creationId xmlns:p14="http://schemas.microsoft.com/office/powerpoint/2010/main" val="21444283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275F44-3844-F881-3DC9-E55F3A5BB2A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8B5DD6E-70DC-EC37-F363-8CA0371D48C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884CC4-4338-D905-6FCE-6141610CE918}"/>
              </a:ext>
            </a:extLst>
          </p:cNvPr>
          <p:cNvSpPr>
            <a:spLocks noGrp="1"/>
          </p:cNvSpPr>
          <p:nvPr>
            <p:ph type="dt" sz="half" idx="10"/>
          </p:nvPr>
        </p:nvSpPr>
        <p:spPr/>
        <p:txBody>
          <a:bodyPr/>
          <a:lstStyle/>
          <a:p>
            <a:fld id="{42A9C543-C1A5-4BB5-A80B-9531F5C51CEB}" type="datetime1">
              <a:rPr lang="en-US" smtClean="0"/>
              <a:t>10/28/2025</a:t>
            </a:fld>
            <a:endParaRPr lang="en-US"/>
          </a:p>
        </p:txBody>
      </p:sp>
      <p:sp>
        <p:nvSpPr>
          <p:cNvPr id="5" name="Footer Placeholder 4">
            <a:extLst>
              <a:ext uri="{FF2B5EF4-FFF2-40B4-BE49-F238E27FC236}">
                <a16:creationId xmlns:a16="http://schemas.microsoft.com/office/drawing/2014/main" id="{AD46F4CB-E19E-BF21-CA04-20FBF9E0B0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C561CA-A7D9-921E-283C-D2D26EC9D331}"/>
              </a:ext>
            </a:extLst>
          </p:cNvPr>
          <p:cNvSpPr>
            <a:spLocks noGrp="1"/>
          </p:cNvSpPr>
          <p:nvPr>
            <p:ph type="sldNum" sz="quarter" idx="12"/>
          </p:nvPr>
        </p:nvSpPr>
        <p:spPr/>
        <p:txBody>
          <a:bodyPr/>
          <a:lstStyle/>
          <a:p>
            <a:fld id="{1FCEF87E-815D-44D1-B0AB-39AF0402D6A8}" type="slidenum">
              <a:rPr lang="en-US" smtClean="0"/>
              <a:t>‹#›</a:t>
            </a:fld>
            <a:endParaRPr lang="en-US"/>
          </a:p>
        </p:txBody>
      </p:sp>
    </p:spTree>
    <p:extLst>
      <p:ext uri="{BB962C8B-B14F-4D97-AF65-F5344CB8AC3E}">
        <p14:creationId xmlns:p14="http://schemas.microsoft.com/office/powerpoint/2010/main" val="38553828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9F0DB8-4328-6842-4C20-194E16496B3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D1C16DD-B055-C373-DB9C-1095E3A7F61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0308B3A-5B20-B104-4DC9-F294FE85DC4F}"/>
              </a:ext>
            </a:extLst>
          </p:cNvPr>
          <p:cNvSpPr>
            <a:spLocks noGrp="1"/>
          </p:cNvSpPr>
          <p:nvPr>
            <p:ph type="dt" sz="half" idx="10"/>
          </p:nvPr>
        </p:nvSpPr>
        <p:spPr/>
        <p:txBody>
          <a:bodyPr/>
          <a:lstStyle/>
          <a:p>
            <a:fld id="{85DB2ABE-BEC8-4A12-8AF2-3E9347C9F9C5}" type="datetime1">
              <a:rPr lang="en-US" smtClean="0"/>
              <a:t>10/28/2025</a:t>
            </a:fld>
            <a:endParaRPr lang="en-US"/>
          </a:p>
        </p:txBody>
      </p:sp>
      <p:sp>
        <p:nvSpPr>
          <p:cNvPr id="5" name="Footer Placeholder 4">
            <a:extLst>
              <a:ext uri="{FF2B5EF4-FFF2-40B4-BE49-F238E27FC236}">
                <a16:creationId xmlns:a16="http://schemas.microsoft.com/office/drawing/2014/main" id="{242F6EF1-C2BF-E0B8-5AD2-1E80894A92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73C3E5B-79C1-F551-EB78-424972E416AB}"/>
              </a:ext>
            </a:extLst>
          </p:cNvPr>
          <p:cNvSpPr>
            <a:spLocks noGrp="1"/>
          </p:cNvSpPr>
          <p:nvPr>
            <p:ph type="sldNum" sz="quarter" idx="12"/>
          </p:nvPr>
        </p:nvSpPr>
        <p:spPr/>
        <p:txBody>
          <a:bodyPr/>
          <a:lstStyle/>
          <a:p>
            <a:fld id="{1FCEF87E-815D-44D1-B0AB-39AF0402D6A8}" type="slidenum">
              <a:rPr lang="en-US" smtClean="0"/>
              <a:t>‹#›</a:t>
            </a:fld>
            <a:endParaRPr lang="en-US"/>
          </a:p>
        </p:txBody>
      </p:sp>
    </p:spTree>
    <p:extLst>
      <p:ext uri="{BB962C8B-B14F-4D97-AF65-F5344CB8AC3E}">
        <p14:creationId xmlns:p14="http://schemas.microsoft.com/office/powerpoint/2010/main" val="23629751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FA2CF-D4B2-C0EA-7D8B-9997981DFC6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C8EC816-FAB0-61B5-B8A9-3CEEDE3AC64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6888030-9606-40F3-F568-569861E67BB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F26BC2E-18CA-513E-BBD3-A4A6A46824FE}"/>
              </a:ext>
            </a:extLst>
          </p:cNvPr>
          <p:cNvSpPr>
            <a:spLocks noGrp="1"/>
          </p:cNvSpPr>
          <p:nvPr>
            <p:ph type="dt" sz="half" idx="10"/>
          </p:nvPr>
        </p:nvSpPr>
        <p:spPr/>
        <p:txBody>
          <a:bodyPr/>
          <a:lstStyle/>
          <a:p>
            <a:fld id="{E457CA91-FD83-4EFE-93EA-63992C03614F}" type="datetime1">
              <a:rPr lang="en-US" smtClean="0"/>
              <a:t>10/28/2025</a:t>
            </a:fld>
            <a:endParaRPr lang="en-US"/>
          </a:p>
        </p:txBody>
      </p:sp>
      <p:sp>
        <p:nvSpPr>
          <p:cNvPr id="6" name="Footer Placeholder 5">
            <a:extLst>
              <a:ext uri="{FF2B5EF4-FFF2-40B4-BE49-F238E27FC236}">
                <a16:creationId xmlns:a16="http://schemas.microsoft.com/office/drawing/2014/main" id="{7610C424-8EE7-DCF3-92CA-9943CA217BA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3B02771-6578-A3F3-2DE5-957F26935FA9}"/>
              </a:ext>
            </a:extLst>
          </p:cNvPr>
          <p:cNvSpPr>
            <a:spLocks noGrp="1"/>
          </p:cNvSpPr>
          <p:nvPr>
            <p:ph type="sldNum" sz="quarter" idx="12"/>
          </p:nvPr>
        </p:nvSpPr>
        <p:spPr/>
        <p:txBody>
          <a:bodyPr/>
          <a:lstStyle/>
          <a:p>
            <a:fld id="{1FCEF87E-815D-44D1-B0AB-39AF0402D6A8}" type="slidenum">
              <a:rPr lang="en-US" smtClean="0"/>
              <a:t>‹#›</a:t>
            </a:fld>
            <a:endParaRPr lang="en-US"/>
          </a:p>
        </p:txBody>
      </p:sp>
    </p:spTree>
    <p:extLst>
      <p:ext uri="{BB962C8B-B14F-4D97-AF65-F5344CB8AC3E}">
        <p14:creationId xmlns:p14="http://schemas.microsoft.com/office/powerpoint/2010/main" val="18465012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3A56EB-15F3-DA5A-FC5F-C8A9854DFC2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44F55B3-769C-0F68-56E4-09A31651F09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9390E3-482E-14E5-E93E-3EFDFCA024C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A5F7FD4-A0A2-100E-247B-0439DA6A8EA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AB19785-7F9E-F7E7-9989-FBA2A2436A0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99BF4CB-4B11-6795-84C1-91B139428AEE}"/>
              </a:ext>
            </a:extLst>
          </p:cNvPr>
          <p:cNvSpPr>
            <a:spLocks noGrp="1"/>
          </p:cNvSpPr>
          <p:nvPr>
            <p:ph type="dt" sz="half" idx="10"/>
          </p:nvPr>
        </p:nvSpPr>
        <p:spPr/>
        <p:txBody>
          <a:bodyPr/>
          <a:lstStyle/>
          <a:p>
            <a:fld id="{07D6C43A-13E2-48A2-BAE5-CC73887FC199}" type="datetime1">
              <a:rPr lang="en-US" smtClean="0"/>
              <a:t>10/28/2025</a:t>
            </a:fld>
            <a:endParaRPr lang="en-US"/>
          </a:p>
        </p:txBody>
      </p:sp>
      <p:sp>
        <p:nvSpPr>
          <p:cNvPr id="8" name="Footer Placeholder 7">
            <a:extLst>
              <a:ext uri="{FF2B5EF4-FFF2-40B4-BE49-F238E27FC236}">
                <a16:creationId xmlns:a16="http://schemas.microsoft.com/office/drawing/2014/main" id="{F52FCB82-5972-D333-E21C-DF24F6BCF49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F12211A-324E-9069-32B0-8F509730AD76}"/>
              </a:ext>
            </a:extLst>
          </p:cNvPr>
          <p:cNvSpPr>
            <a:spLocks noGrp="1"/>
          </p:cNvSpPr>
          <p:nvPr>
            <p:ph type="sldNum" sz="quarter" idx="12"/>
          </p:nvPr>
        </p:nvSpPr>
        <p:spPr/>
        <p:txBody>
          <a:bodyPr/>
          <a:lstStyle/>
          <a:p>
            <a:fld id="{1FCEF87E-815D-44D1-B0AB-39AF0402D6A8}" type="slidenum">
              <a:rPr lang="en-US" smtClean="0"/>
              <a:t>‹#›</a:t>
            </a:fld>
            <a:endParaRPr lang="en-US"/>
          </a:p>
        </p:txBody>
      </p:sp>
    </p:spTree>
    <p:extLst>
      <p:ext uri="{BB962C8B-B14F-4D97-AF65-F5344CB8AC3E}">
        <p14:creationId xmlns:p14="http://schemas.microsoft.com/office/powerpoint/2010/main" val="33420882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40A965-A2B0-80BB-C6BA-CCCFA272AED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F0A2016-FBBB-4A1F-6F9E-FE6A63DE4832}"/>
              </a:ext>
            </a:extLst>
          </p:cNvPr>
          <p:cNvSpPr>
            <a:spLocks noGrp="1"/>
          </p:cNvSpPr>
          <p:nvPr>
            <p:ph type="dt" sz="half" idx="10"/>
          </p:nvPr>
        </p:nvSpPr>
        <p:spPr/>
        <p:txBody>
          <a:bodyPr/>
          <a:lstStyle/>
          <a:p>
            <a:fld id="{4EA2C5D3-416C-4131-8BC9-E71DA97D5A64}" type="datetime1">
              <a:rPr lang="en-US" smtClean="0"/>
              <a:t>10/28/2025</a:t>
            </a:fld>
            <a:endParaRPr lang="en-US"/>
          </a:p>
        </p:txBody>
      </p:sp>
      <p:sp>
        <p:nvSpPr>
          <p:cNvPr id="4" name="Footer Placeholder 3">
            <a:extLst>
              <a:ext uri="{FF2B5EF4-FFF2-40B4-BE49-F238E27FC236}">
                <a16:creationId xmlns:a16="http://schemas.microsoft.com/office/drawing/2014/main" id="{EBE845DF-F961-5466-32C3-C6385060CC2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6E057F6-928A-6D9F-4161-C04DEAA83D65}"/>
              </a:ext>
            </a:extLst>
          </p:cNvPr>
          <p:cNvSpPr>
            <a:spLocks noGrp="1"/>
          </p:cNvSpPr>
          <p:nvPr>
            <p:ph type="sldNum" sz="quarter" idx="12"/>
          </p:nvPr>
        </p:nvSpPr>
        <p:spPr/>
        <p:txBody>
          <a:bodyPr/>
          <a:lstStyle/>
          <a:p>
            <a:fld id="{1FCEF87E-815D-44D1-B0AB-39AF0402D6A8}" type="slidenum">
              <a:rPr lang="en-US" smtClean="0"/>
              <a:t>‹#›</a:t>
            </a:fld>
            <a:endParaRPr lang="en-US"/>
          </a:p>
        </p:txBody>
      </p:sp>
    </p:spTree>
    <p:extLst>
      <p:ext uri="{BB962C8B-B14F-4D97-AF65-F5344CB8AC3E}">
        <p14:creationId xmlns:p14="http://schemas.microsoft.com/office/powerpoint/2010/main" val="20759743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DB366D7-6680-4FD6-C029-DC5C0BB2354F}"/>
              </a:ext>
            </a:extLst>
          </p:cNvPr>
          <p:cNvSpPr>
            <a:spLocks noGrp="1"/>
          </p:cNvSpPr>
          <p:nvPr>
            <p:ph type="dt" sz="half" idx="10"/>
          </p:nvPr>
        </p:nvSpPr>
        <p:spPr/>
        <p:txBody>
          <a:bodyPr/>
          <a:lstStyle/>
          <a:p>
            <a:fld id="{B8971593-8386-48B7-BB85-87C0949B2086}" type="datetime1">
              <a:rPr lang="en-US" smtClean="0"/>
              <a:t>10/28/2025</a:t>
            </a:fld>
            <a:endParaRPr lang="en-US"/>
          </a:p>
        </p:txBody>
      </p:sp>
      <p:sp>
        <p:nvSpPr>
          <p:cNvPr id="3" name="Footer Placeholder 2">
            <a:extLst>
              <a:ext uri="{FF2B5EF4-FFF2-40B4-BE49-F238E27FC236}">
                <a16:creationId xmlns:a16="http://schemas.microsoft.com/office/drawing/2014/main" id="{94179984-8567-91CB-0310-29A3752B78B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22C7A0D-606C-3BF9-8DBE-908D80966AD1}"/>
              </a:ext>
            </a:extLst>
          </p:cNvPr>
          <p:cNvSpPr>
            <a:spLocks noGrp="1"/>
          </p:cNvSpPr>
          <p:nvPr>
            <p:ph type="sldNum" sz="quarter" idx="12"/>
          </p:nvPr>
        </p:nvSpPr>
        <p:spPr/>
        <p:txBody>
          <a:bodyPr/>
          <a:lstStyle/>
          <a:p>
            <a:fld id="{1FCEF87E-815D-44D1-B0AB-39AF0402D6A8}" type="slidenum">
              <a:rPr lang="en-US" smtClean="0"/>
              <a:t>‹#›</a:t>
            </a:fld>
            <a:endParaRPr lang="en-US"/>
          </a:p>
        </p:txBody>
      </p:sp>
    </p:spTree>
    <p:extLst>
      <p:ext uri="{BB962C8B-B14F-4D97-AF65-F5344CB8AC3E}">
        <p14:creationId xmlns:p14="http://schemas.microsoft.com/office/powerpoint/2010/main" val="27993762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684C1-8596-31A1-180D-C7EC5332BBD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13762C2-B7CC-ADA3-9D39-3541B3FE5A3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835A5F9-7E68-401F-C3BB-09FB74F827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A5F73E6-ECB8-2943-41D8-05812D848AD3}"/>
              </a:ext>
            </a:extLst>
          </p:cNvPr>
          <p:cNvSpPr>
            <a:spLocks noGrp="1"/>
          </p:cNvSpPr>
          <p:nvPr>
            <p:ph type="dt" sz="half" idx="10"/>
          </p:nvPr>
        </p:nvSpPr>
        <p:spPr/>
        <p:txBody>
          <a:bodyPr/>
          <a:lstStyle/>
          <a:p>
            <a:fld id="{3070F398-88D3-4D2F-9F7E-785BF8AD0274}" type="datetime1">
              <a:rPr lang="en-US" smtClean="0"/>
              <a:t>10/28/2025</a:t>
            </a:fld>
            <a:endParaRPr lang="en-US"/>
          </a:p>
        </p:txBody>
      </p:sp>
      <p:sp>
        <p:nvSpPr>
          <p:cNvPr id="6" name="Footer Placeholder 5">
            <a:extLst>
              <a:ext uri="{FF2B5EF4-FFF2-40B4-BE49-F238E27FC236}">
                <a16:creationId xmlns:a16="http://schemas.microsoft.com/office/drawing/2014/main" id="{D86B5AF7-95CA-05D2-1119-F667C7B6F8D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2599C23-C916-AE53-9371-42CF3819D0E1}"/>
              </a:ext>
            </a:extLst>
          </p:cNvPr>
          <p:cNvSpPr>
            <a:spLocks noGrp="1"/>
          </p:cNvSpPr>
          <p:nvPr>
            <p:ph type="sldNum" sz="quarter" idx="12"/>
          </p:nvPr>
        </p:nvSpPr>
        <p:spPr/>
        <p:txBody>
          <a:bodyPr/>
          <a:lstStyle/>
          <a:p>
            <a:fld id="{1FCEF87E-815D-44D1-B0AB-39AF0402D6A8}" type="slidenum">
              <a:rPr lang="en-US" smtClean="0"/>
              <a:t>‹#›</a:t>
            </a:fld>
            <a:endParaRPr lang="en-US"/>
          </a:p>
        </p:txBody>
      </p:sp>
    </p:spTree>
    <p:extLst>
      <p:ext uri="{BB962C8B-B14F-4D97-AF65-F5344CB8AC3E}">
        <p14:creationId xmlns:p14="http://schemas.microsoft.com/office/powerpoint/2010/main" val="15749913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B9AC56-39A4-2278-722C-617F9F770A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1FAD1B2-1942-74FB-C400-0DB0C13B90D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1DA8F38-E9BE-47E4-7662-3CD4AECCB2B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228AE0B-2CCA-EDA3-1B80-8F2E1DF84CA6}"/>
              </a:ext>
            </a:extLst>
          </p:cNvPr>
          <p:cNvSpPr>
            <a:spLocks noGrp="1"/>
          </p:cNvSpPr>
          <p:nvPr>
            <p:ph type="dt" sz="half" idx="10"/>
          </p:nvPr>
        </p:nvSpPr>
        <p:spPr/>
        <p:txBody>
          <a:bodyPr/>
          <a:lstStyle/>
          <a:p>
            <a:fld id="{CE1A94C1-07AC-4775-8A4F-70BB05306BF7}" type="datetime1">
              <a:rPr lang="en-US" smtClean="0"/>
              <a:t>10/28/2025</a:t>
            </a:fld>
            <a:endParaRPr lang="en-US"/>
          </a:p>
        </p:txBody>
      </p:sp>
      <p:sp>
        <p:nvSpPr>
          <p:cNvPr id="6" name="Footer Placeholder 5">
            <a:extLst>
              <a:ext uri="{FF2B5EF4-FFF2-40B4-BE49-F238E27FC236}">
                <a16:creationId xmlns:a16="http://schemas.microsoft.com/office/drawing/2014/main" id="{2FDB1342-9AFD-57F0-2E90-76ECCEAFA3F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DE180B8-E20A-6138-1A1C-1E980CAD40A5}"/>
              </a:ext>
            </a:extLst>
          </p:cNvPr>
          <p:cNvSpPr>
            <a:spLocks noGrp="1"/>
          </p:cNvSpPr>
          <p:nvPr>
            <p:ph type="sldNum" sz="quarter" idx="12"/>
          </p:nvPr>
        </p:nvSpPr>
        <p:spPr/>
        <p:txBody>
          <a:bodyPr/>
          <a:lstStyle/>
          <a:p>
            <a:fld id="{1FCEF87E-815D-44D1-B0AB-39AF0402D6A8}" type="slidenum">
              <a:rPr lang="en-US" smtClean="0"/>
              <a:t>‹#›</a:t>
            </a:fld>
            <a:endParaRPr lang="en-US"/>
          </a:p>
        </p:txBody>
      </p:sp>
    </p:spTree>
    <p:extLst>
      <p:ext uri="{BB962C8B-B14F-4D97-AF65-F5344CB8AC3E}">
        <p14:creationId xmlns:p14="http://schemas.microsoft.com/office/powerpoint/2010/main" val="29694942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F050B6-05B4-E3FE-22C0-B823946C349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534B519-CE0F-EF5E-0363-067F1B0DB1E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E2CA70-5E41-1433-D1D4-58B7EECA7D33}"/>
              </a:ext>
            </a:extLst>
          </p:cNvPr>
          <p:cNvSpPr>
            <a:spLocks noGrp="1"/>
          </p:cNvSpPr>
          <p:nvPr>
            <p:ph type="dt" sz="half" idx="10"/>
          </p:nvPr>
        </p:nvSpPr>
        <p:spPr/>
        <p:txBody>
          <a:bodyPr/>
          <a:lstStyle/>
          <a:p>
            <a:fld id="{850BF149-3A71-4B38-9BDE-7A4D7C7AB1AD}" type="datetime1">
              <a:rPr lang="en-US" smtClean="0"/>
              <a:t>10/28/2025</a:t>
            </a:fld>
            <a:endParaRPr lang="en-US"/>
          </a:p>
        </p:txBody>
      </p:sp>
      <p:sp>
        <p:nvSpPr>
          <p:cNvPr id="5" name="Footer Placeholder 4">
            <a:extLst>
              <a:ext uri="{FF2B5EF4-FFF2-40B4-BE49-F238E27FC236}">
                <a16:creationId xmlns:a16="http://schemas.microsoft.com/office/drawing/2014/main" id="{4A27E013-1DD3-69EC-2DB2-F95CD34915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12FAA7-8459-22BB-DD92-45D2DCDBB7A1}"/>
              </a:ext>
            </a:extLst>
          </p:cNvPr>
          <p:cNvSpPr>
            <a:spLocks noGrp="1"/>
          </p:cNvSpPr>
          <p:nvPr>
            <p:ph type="sldNum" sz="quarter" idx="12"/>
          </p:nvPr>
        </p:nvSpPr>
        <p:spPr/>
        <p:txBody>
          <a:bodyPr/>
          <a:lstStyle/>
          <a:p>
            <a:fld id="{1FCEF87E-815D-44D1-B0AB-39AF0402D6A8}" type="slidenum">
              <a:rPr lang="en-US" smtClean="0"/>
              <a:t>‹#›</a:t>
            </a:fld>
            <a:endParaRPr lang="en-US"/>
          </a:p>
        </p:txBody>
      </p:sp>
    </p:spTree>
    <p:extLst>
      <p:ext uri="{BB962C8B-B14F-4D97-AF65-F5344CB8AC3E}">
        <p14:creationId xmlns:p14="http://schemas.microsoft.com/office/powerpoint/2010/main" val="842190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665F096-56EB-9C2E-FB81-FEE0A0CAD97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F2D9855-6F39-E67A-6BE9-0AC527E9721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5C113E1-9951-703E-A152-D5CEEC0EEDDB}"/>
              </a:ext>
            </a:extLst>
          </p:cNvPr>
          <p:cNvSpPr>
            <a:spLocks noGrp="1"/>
          </p:cNvSpPr>
          <p:nvPr>
            <p:ph type="dt" sz="half" idx="10"/>
          </p:nvPr>
        </p:nvSpPr>
        <p:spPr/>
        <p:txBody>
          <a:bodyPr/>
          <a:lstStyle/>
          <a:p>
            <a:fld id="{25415CF1-83E4-4056-B983-BD617F30DAFA}" type="datetime1">
              <a:rPr lang="en-US" smtClean="0"/>
              <a:t>10/28/2025</a:t>
            </a:fld>
            <a:endParaRPr lang="en-US"/>
          </a:p>
        </p:txBody>
      </p:sp>
      <p:sp>
        <p:nvSpPr>
          <p:cNvPr id="5" name="Footer Placeholder 4">
            <a:extLst>
              <a:ext uri="{FF2B5EF4-FFF2-40B4-BE49-F238E27FC236}">
                <a16:creationId xmlns:a16="http://schemas.microsoft.com/office/drawing/2014/main" id="{A7463D87-637E-E53B-45EF-5E53B2925E3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5677AB-ED08-1C04-AEC4-B8B3B85BC40F}"/>
              </a:ext>
            </a:extLst>
          </p:cNvPr>
          <p:cNvSpPr>
            <a:spLocks noGrp="1"/>
          </p:cNvSpPr>
          <p:nvPr>
            <p:ph type="sldNum" sz="quarter" idx="12"/>
          </p:nvPr>
        </p:nvSpPr>
        <p:spPr/>
        <p:txBody>
          <a:bodyPr/>
          <a:lstStyle/>
          <a:p>
            <a:fld id="{1FCEF87E-815D-44D1-B0AB-39AF0402D6A8}" type="slidenum">
              <a:rPr lang="en-US" smtClean="0"/>
              <a:t>‹#›</a:t>
            </a:fld>
            <a:endParaRPr lang="en-US"/>
          </a:p>
        </p:txBody>
      </p:sp>
    </p:spTree>
    <p:extLst>
      <p:ext uri="{BB962C8B-B14F-4D97-AF65-F5344CB8AC3E}">
        <p14:creationId xmlns:p14="http://schemas.microsoft.com/office/powerpoint/2010/main" val="9964240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34DB59C-E06D-9064-D0E9-EE878347C88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03B2644-B987-EA40-64D1-C253A45B0A1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DBC9483-BDE6-AF2E-5EF6-5FD8C63DA85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7FA37CB-3111-4E43-978B-840B0C3E984E}" type="datetime1">
              <a:rPr lang="en-US" smtClean="0"/>
              <a:t>10/28/2025</a:t>
            </a:fld>
            <a:endParaRPr lang="en-US"/>
          </a:p>
        </p:txBody>
      </p:sp>
      <p:sp>
        <p:nvSpPr>
          <p:cNvPr id="5" name="Footer Placeholder 4">
            <a:extLst>
              <a:ext uri="{FF2B5EF4-FFF2-40B4-BE49-F238E27FC236}">
                <a16:creationId xmlns:a16="http://schemas.microsoft.com/office/drawing/2014/main" id="{E6345DA1-9E37-8BE4-5FD8-30862397363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9C78D0E-8A6B-A368-9312-1F3C29DDBA8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FCEF87E-815D-44D1-B0AB-39AF0402D6A8}" type="slidenum">
              <a:rPr lang="en-US" smtClean="0"/>
              <a:t>‹#›</a:t>
            </a:fld>
            <a:endParaRPr lang="en-US"/>
          </a:p>
        </p:txBody>
      </p:sp>
    </p:spTree>
    <p:extLst>
      <p:ext uri="{BB962C8B-B14F-4D97-AF65-F5344CB8AC3E}">
        <p14:creationId xmlns:p14="http://schemas.microsoft.com/office/powerpoint/2010/main" val="36965271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7F15FA6-086D-491A-B175-0CA4656FBDCB}"/>
              </a:ext>
            </a:extLst>
          </p:cNvPr>
          <p:cNvPicPr/>
          <p:nvPr/>
        </p:nvPicPr>
        <p:blipFill>
          <a:blip r:embed="rId2" cstate="print"/>
          <a:srcRect l="21229" t="27213" r="21523" b="35253"/>
          <a:stretch>
            <a:fillRect/>
          </a:stretch>
        </p:blipFill>
        <p:spPr bwMode="auto">
          <a:xfrm>
            <a:off x="3256548" y="136525"/>
            <a:ext cx="4776536" cy="834189"/>
          </a:xfrm>
          <a:prstGeom prst="rect">
            <a:avLst/>
          </a:prstGeom>
          <a:ln>
            <a:headEnd/>
            <a:tailEnd type="none" w="med" len="med"/>
          </a:ln>
        </p:spPr>
        <p:style>
          <a:lnRef idx="1">
            <a:schemeClr val="accent2"/>
          </a:lnRef>
          <a:fillRef idx="3">
            <a:schemeClr val="accent2"/>
          </a:fillRef>
          <a:effectRef idx="2">
            <a:schemeClr val="accent2"/>
          </a:effectRef>
          <a:fontRef idx="minor">
            <a:schemeClr val="lt1"/>
          </a:fontRef>
        </p:style>
      </p:pic>
      <p:sp>
        <p:nvSpPr>
          <p:cNvPr id="7" name="Title 6">
            <a:extLst>
              <a:ext uri="{FF2B5EF4-FFF2-40B4-BE49-F238E27FC236}">
                <a16:creationId xmlns:a16="http://schemas.microsoft.com/office/drawing/2014/main" id="{5BEE647A-5606-A6E5-93DB-A43A8FC2D88A}"/>
              </a:ext>
            </a:extLst>
          </p:cNvPr>
          <p:cNvSpPr>
            <a:spLocks noGrp="1"/>
          </p:cNvSpPr>
          <p:nvPr>
            <p:ph type="ctrTitle"/>
          </p:nvPr>
        </p:nvSpPr>
        <p:spPr>
          <a:xfrm>
            <a:off x="433138" y="1251284"/>
            <a:ext cx="10812378" cy="2458586"/>
          </a:xfrm>
        </p:spPr>
        <p:txBody>
          <a:bodyPr>
            <a:noAutofit/>
          </a:bodyPr>
          <a:lstStyle/>
          <a:p>
            <a:r>
              <a:rPr lang="en-GB" sz="2400" b="1" dirty="0">
                <a:latin typeface="Times New Roman" panose="02020603050405020304" pitchFamily="18" charset="0"/>
                <a:cs typeface="Times New Roman" panose="02020603050405020304" pitchFamily="18" charset="0"/>
              </a:rPr>
              <a:t>DEPARTMENT OF</a:t>
            </a:r>
            <a:br>
              <a:rPr lang="en-GB" sz="2400" b="1" dirty="0">
                <a:latin typeface="Times New Roman" panose="02020603050405020304" pitchFamily="18" charset="0"/>
                <a:cs typeface="Times New Roman" panose="02020603050405020304" pitchFamily="18" charset="0"/>
              </a:rPr>
            </a:br>
            <a:r>
              <a:rPr lang="en-GB" sz="2400" b="1" dirty="0">
                <a:latin typeface="Times New Roman" panose="02020603050405020304" pitchFamily="18" charset="0"/>
                <a:cs typeface="Times New Roman" panose="02020603050405020304" pitchFamily="18" charset="0"/>
              </a:rPr>
              <a:t>CSE (ARTIFICIAL INTELLIGENCE AND MACHINE LEARNING)</a:t>
            </a:r>
            <a:br>
              <a:rPr lang="en-GB" sz="2400" b="1" dirty="0">
                <a:latin typeface="Times New Roman" panose="02020603050405020304" pitchFamily="18" charset="0"/>
                <a:cs typeface="Times New Roman" panose="02020603050405020304" pitchFamily="18" charset="0"/>
              </a:rPr>
            </a:br>
            <a:r>
              <a:rPr lang="en-GB" sz="2400" b="1" dirty="0">
                <a:latin typeface="Times New Roman" panose="02020603050405020304" pitchFamily="18" charset="0"/>
                <a:cs typeface="Times New Roman" panose="02020603050405020304" pitchFamily="18" charset="0"/>
              </a:rPr>
              <a:t>ACADEMIC YEAR 2025 - 2026</a:t>
            </a:r>
            <a:br>
              <a:rPr lang="en-GB" sz="2400" b="1" dirty="0">
                <a:latin typeface="Times New Roman" panose="02020603050405020304" pitchFamily="18" charset="0"/>
                <a:cs typeface="Times New Roman" panose="02020603050405020304" pitchFamily="18" charset="0"/>
              </a:rPr>
            </a:br>
            <a:r>
              <a:rPr lang="en-GB" sz="2400" b="1" dirty="0">
                <a:latin typeface="Times New Roman" panose="02020603050405020304" pitchFamily="18" charset="0"/>
                <a:cs typeface="Times New Roman" panose="02020603050405020304" pitchFamily="18" charset="0"/>
              </a:rPr>
              <a:t>SEMESTER III</a:t>
            </a:r>
            <a:br>
              <a:rPr lang="en-GB" sz="2400" b="1" dirty="0">
                <a:latin typeface="Times New Roman" panose="02020603050405020304" pitchFamily="18" charset="0"/>
                <a:cs typeface="Times New Roman" panose="02020603050405020304" pitchFamily="18" charset="0"/>
              </a:rPr>
            </a:br>
            <a:r>
              <a:rPr lang="en-GB" sz="2400" b="1" dirty="0">
                <a:latin typeface="Times New Roman" panose="02020603050405020304" pitchFamily="18" charset="0"/>
                <a:cs typeface="Times New Roman" panose="02020603050405020304" pitchFamily="18" charset="0"/>
              </a:rPr>
              <a:t>ARTIFICIAL INTELLIGENCE LABORATORY</a:t>
            </a:r>
            <a:br>
              <a:rPr lang="en-GB" sz="2400" b="1" dirty="0">
                <a:latin typeface="Times New Roman" panose="02020603050405020304" pitchFamily="18" charset="0"/>
                <a:cs typeface="Times New Roman" panose="02020603050405020304" pitchFamily="18" charset="0"/>
              </a:rPr>
            </a:br>
            <a:r>
              <a:rPr lang="en-GB" sz="2400" b="1" dirty="0">
                <a:latin typeface="Times New Roman" panose="02020603050405020304" pitchFamily="18" charset="0"/>
                <a:cs typeface="Times New Roman" panose="02020603050405020304" pitchFamily="18" charset="0"/>
              </a:rPr>
              <a:t>	</a:t>
            </a:r>
            <a:r>
              <a:rPr lang="en-GB" sz="2400" b="1" dirty="0">
                <a:solidFill>
                  <a:srgbClr val="002060"/>
                </a:solidFill>
                <a:latin typeface="Times New Roman" panose="02020603050405020304" pitchFamily="18" charset="0"/>
                <a:cs typeface="Times New Roman" panose="02020603050405020304" pitchFamily="18" charset="0"/>
              </a:rPr>
              <a:t>MINI PROJECT REVIEW</a:t>
            </a:r>
            <a:r>
              <a:rPr lang="en-GB" sz="2400" dirty="0">
                <a:solidFill>
                  <a:srgbClr val="002060"/>
                </a:solidFill>
                <a:latin typeface="Times New Roman" panose="02020603050405020304" pitchFamily="18" charset="0"/>
                <a:cs typeface="Times New Roman" panose="02020603050405020304" pitchFamily="18" charset="0"/>
              </a:rPr>
              <a:t>	</a:t>
            </a:r>
            <a:br>
              <a:rPr lang="en-GB" sz="2400" dirty="0">
                <a:latin typeface="Times New Roman" panose="02020603050405020304" pitchFamily="18" charset="0"/>
                <a:cs typeface="Times New Roman" panose="02020603050405020304" pitchFamily="18" charset="0"/>
              </a:rPr>
            </a:br>
            <a:br>
              <a:rPr lang="en-GB" sz="2400">
                <a:latin typeface="Times New Roman" panose="02020603050405020304" pitchFamily="18" charset="0"/>
                <a:cs typeface="Times New Roman" panose="02020603050405020304" pitchFamily="18" charset="0"/>
              </a:rPr>
            </a:br>
            <a:r>
              <a:rPr lang="en-GB" sz="2400" b="1">
                <a:solidFill>
                  <a:srgbClr val="FF0000"/>
                </a:solidFill>
                <a:latin typeface="Times New Roman" panose="02020603050405020304" pitchFamily="18" charset="0"/>
                <a:cs typeface="Times New Roman" panose="02020603050405020304" pitchFamily="18" charset="0"/>
              </a:rPr>
              <a:t>N-KNIGHT’S TOUR PROBLEM</a:t>
            </a:r>
            <a:endParaRPr lang="en-US" sz="2400" b="1" dirty="0">
              <a:solidFill>
                <a:srgbClr val="FF0000"/>
              </a:solidFill>
              <a:latin typeface="Times New Roman" panose="02020603050405020304" pitchFamily="18" charset="0"/>
              <a:cs typeface="Times New Roman" panose="02020603050405020304" pitchFamily="18" charset="0"/>
            </a:endParaRPr>
          </a:p>
        </p:txBody>
      </p:sp>
      <p:graphicFrame>
        <p:nvGraphicFramePr>
          <p:cNvPr id="11" name="Table 10">
            <a:extLst>
              <a:ext uri="{FF2B5EF4-FFF2-40B4-BE49-F238E27FC236}">
                <a16:creationId xmlns:a16="http://schemas.microsoft.com/office/drawing/2014/main" id="{B39E0012-B3AF-E718-6BBA-5D37629E4005}"/>
              </a:ext>
            </a:extLst>
          </p:cNvPr>
          <p:cNvGraphicFramePr>
            <a:graphicFrameLocks noGrp="1"/>
          </p:cNvGraphicFramePr>
          <p:nvPr>
            <p:extLst>
              <p:ext uri="{D42A27DB-BD31-4B8C-83A1-F6EECF244321}">
                <p14:modId xmlns:p14="http://schemas.microsoft.com/office/powerpoint/2010/main" val="4018257273"/>
              </p:ext>
            </p:extLst>
          </p:nvPr>
        </p:nvGraphicFramePr>
        <p:xfrm>
          <a:off x="2098841" y="3845961"/>
          <a:ext cx="8392696" cy="2458586"/>
        </p:xfrm>
        <a:graphic>
          <a:graphicData uri="http://schemas.openxmlformats.org/drawingml/2006/table">
            <a:tbl>
              <a:tblPr firstRow="1" bandRow="1">
                <a:tableStyleId>{21E4AEA4-8DFA-4A89-87EB-49C32662AFE0}</a:tableStyleId>
              </a:tblPr>
              <a:tblGrid>
                <a:gridCol w="2216485">
                  <a:extLst>
                    <a:ext uri="{9D8B030D-6E8A-4147-A177-3AD203B41FA5}">
                      <a16:colId xmlns:a16="http://schemas.microsoft.com/office/drawing/2014/main" val="1924387309"/>
                    </a:ext>
                  </a:extLst>
                </a:gridCol>
                <a:gridCol w="6176211">
                  <a:extLst>
                    <a:ext uri="{9D8B030D-6E8A-4147-A177-3AD203B41FA5}">
                      <a16:colId xmlns:a16="http://schemas.microsoft.com/office/drawing/2014/main" val="471423325"/>
                    </a:ext>
                  </a:extLst>
                </a:gridCol>
              </a:tblGrid>
              <a:tr h="486314">
                <a:tc>
                  <a:txBody>
                    <a:bodyPr/>
                    <a:lstStyle/>
                    <a:p>
                      <a:r>
                        <a:rPr lang="en-GB" b="1" dirty="0">
                          <a:solidFill>
                            <a:schemeClr val="tx1"/>
                          </a:solidFill>
                        </a:rPr>
                        <a:t>REGISTER NUMBER</a:t>
                      </a:r>
                      <a:endParaRPr lang="en-US" b="1" dirty="0">
                        <a:solidFill>
                          <a:schemeClr val="tx1"/>
                        </a:solidFill>
                      </a:endParaRPr>
                    </a:p>
                  </a:txBody>
                  <a:tcPr/>
                </a:tc>
                <a:tc>
                  <a:txBody>
                    <a:bodyPr/>
                    <a:lstStyle/>
                    <a:p>
                      <a:r>
                        <a:rPr lang="en-US" dirty="0"/>
                        <a:t>2117240030040</a:t>
                      </a:r>
                    </a:p>
                  </a:txBody>
                  <a:tcPr/>
                </a:tc>
                <a:extLst>
                  <a:ext uri="{0D108BD9-81ED-4DB2-BD59-A6C34878D82A}">
                    <a16:rowId xmlns:a16="http://schemas.microsoft.com/office/drawing/2014/main" val="471703413"/>
                  </a:ext>
                </a:extLst>
              </a:tr>
              <a:tr h="493068">
                <a:tc>
                  <a:txBody>
                    <a:bodyPr/>
                    <a:lstStyle/>
                    <a:p>
                      <a:r>
                        <a:rPr lang="en-GB" b="1" dirty="0">
                          <a:solidFill>
                            <a:schemeClr val="tx1"/>
                          </a:solidFill>
                        </a:rPr>
                        <a:t>NAME</a:t>
                      </a:r>
                      <a:endParaRPr lang="en-US" b="1" dirty="0">
                        <a:solidFill>
                          <a:schemeClr val="tx1"/>
                        </a:solidFill>
                      </a:endParaRPr>
                    </a:p>
                  </a:txBody>
                  <a:tcPr/>
                </a:tc>
                <a:tc>
                  <a:txBody>
                    <a:bodyPr/>
                    <a:lstStyle/>
                    <a:p>
                      <a:r>
                        <a:rPr lang="en-US" dirty="0"/>
                        <a:t>S.HARINI</a:t>
                      </a:r>
                    </a:p>
                  </a:txBody>
                  <a:tcPr/>
                </a:tc>
                <a:extLst>
                  <a:ext uri="{0D108BD9-81ED-4DB2-BD59-A6C34878D82A}">
                    <a16:rowId xmlns:a16="http://schemas.microsoft.com/office/drawing/2014/main" val="2967366592"/>
                  </a:ext>
                </a:extLst>
              </a:tr>
              <a:tr h="493068">
                <a:tc>
                  <a:txBody>
                    <a:bodyPr/>
                    <a:lstStyle/>
                    <a:p>
                      <a:r>
                        <a:rPr lang="en-GB" b="1" dirty="0">
                          <a:solidFill>
                            <a:schemeClr val="tx1"/>
                          </a:solidFill>
                        </a:rPr>
                        <a:t>YEAR</a:t>
                      </a:r>
                      <a:endParaRPr lang="en-US" b="1" dirty="0">
                        <a:solidFill>
                          <a:schemeClr val="tx1"/>
                        </a:solidFill>
                      </a:endParaRPr>
                    </a:p>
                  </a:txBody>
                  <a:tcPr/>
                </a:tc>
                <a:tc>
                  <a:txBody>
                    <a:bodyPr/>
                    <a:lstStyle/>
                    <a:p>
                      <a:r>
                        <a:rPr lang="en-US" dirty="0"/>
                        <a:t>2</a:t>
                      </a:r>
                    </a:p>
                  </a:txBody>
                  <a:tcPr/>
                </a:tc>
                <a:extLst>
                  <a:ext uri="{0D108BD9-81ED-4DB2-BD59-A6C34878D82A}">
                    <a16:rowId xmlns:a16="http://schemas.microsoft.com/office/drawing/2014/main" val="3106965190"/>
                  </a:ext>
                </a:extLst>
              </a:tr>
              <a:tr h="493068">
                <a:tc>
                  <a:txBody>
                    <a:bodyPr/>
                    <a:lstStyle/>
                    <a:p>
                      <a:r>
                        <a:rPr lang="en-GB" b="1" dirty="0">
                          <a:solidFill>
                            <a:schemeClr val="tx1"/>
                          </a:solidFill>
                        </a:rPr>
                        <a:t>SECTION</a:t>
                      </a:r>
                      <a:endParaRPr lang="en-US" b="1" dirty="0">
                        <a:solidFill>
                          <a:schemeClr val="tx1"/>
                        </a:solidFill>
                      </a:endParaRPr>
                    </a:p>
                  </a:txBody>
                  <a:tcPr/>
                </a:tc>
                <a:tc>
                  <a:txBody>
                    <a:bodyPr/>
                    <a:lstStyle/>
                    <a:p>
                      <a:r>
                        <a:rPr lang="en-US" dirty="0"/>
                        <a:t>A</a:t>
                      </a:r>
                    </a:p>
                  </a:txBody>
                  <a:tcPr/>
                </a:tc>
                <a:extLst>
                  <a:ext uri="{0D108BD9-81ED-4DB2-BD59-A6C34878D82A}">
                    <a16:rowId xmlns:a16="http://schemas.microsoft.com/office/drawing/2014/main" val="3234068443"/>
                  </a:ext>
                </a:extLst>
              </a:tr>
              <a:tr h="493068">
                <a:tc>
                  <a:txBody>
                    <a:bodyPr/>
                    <a:lstStyle/>
                    <a:p>
                      <a:r>
                        <a:rPr lang="en-GB" b="1" dirty="0">
                          <a:solidFill>
                            <a:schemeClr val="tx1"/>
                          </a:solidFill>
                        </a:rPr>
                        <a:t>FACULTY IN-CHARGE</a:t>
                      </a:r>
                      <a:endParaRPr lang="en-US" b="1" dirty="0">
                        <a:solidFill>
                          <a:schemeClr val="tx1"/>
                        </a:solidFill>
                      </a:endParaRPr>
                    </a:p>
                  </a:txBody>
                  <a:tcPr/>
                </a:tc>
                <a:tc>
                  <a:txBody>
                    <a:bodyPr/>
                    <a:lstStyle/>
                    <a:p>
                      <a:r>
                        <a:rPr lang="en-GB" b="1" dirty="0"/>
                        <a:t>Mrs. M. Divya</a:t>
                      </a:r>
                      <a:endParaRPr lang="en-US" b="1" dirty="0"/>
                    </a:p>
                  </a:txBody>
                  <a:tcPr/>
                </a:tc>
                <a:extLst>
                  <a:ext uri="{0D108BD9-81ED-4DB2-BD59-A6C34878D82A}">
                    <a16:rowId xmlns:a16="http://schemas.microsoft.com/office/drawing/2014/main" val="3536199969"/>
                  </a:ext>
                </a:extLst>
              </a:tr>
            </a:tbl>
          </a:graphicData>
        </a:graphic>
      </p:graphicFrame>
      <p:sp>
        <p:nvSpPr>
          <p:cNvPr id="12" name="Date Placeholder 11">
            <a:extLst>
              <a:ext uri="{FF2B5EF4-FFF2-40B4-BE49-F238E27FC236}">
                <a16:creationId xmlns:a16="http://schemas.microsoft.com/office/drawing/2014/main" id="{6B174A57-15CE-2FFD-86D9-B7E84692480D}"/>
              </a:ext>
            </a:extLst>
          </p:cNvPr>
          <p:cNvSpPr>
            <a:spLocks noGrp="1"/>
          </p:cNvSpPr>
          <p:nvPr>
            <p:ph type="dt" sz="half" idx="10"/>
          </p:nvPr>
        </p:nvSpPr>
        <p:spPr/>
        <p:txBody>
          <a:bodyPr/>
          <a:lstStyle/>
          <a:p>
            <a:fld id="{F9B0B098-7844-408D-9BB3-6B083FBEE8AA}" type="datetime1">
              <a:rPr lang="en-US" smtClean="0"/>
              <a:t>10/28/2025</a:t>
            </a:fld>
            <a:endParaRPr lang="en-US"/>
          </a:p>
        </p:txBody>
      </p:sp>
      <p:sp>
        <p:nvSpPr>
          <p:cNvPr id="13" name="Slide Number Placeholder 12">
            <a:extLst>
              <a:ext uri="{FF2B5EF4-FFF2-40B4-BE49-F238E27FC236}">
                <a16:creationId xmlns:a16="http://schemas.microsoft.com/office/drawing/2014/main" id="{E4873981-939E-932D-DBE2-6B02CC92B85F}"/>
              </a:ext>
            </a:extLst>
          </p:cNvPr>
          <p:cNvSpPr>
            <a:spLocks noGrp="1"/>
          </p:cNvSpPr>
          <p:nvPr>
            <p:ph type="sldNum" sz="quarter" idx="12"/>
          </p:nvPr>
        </p:nvSpPr>
        <p:spPr/>
        <p:txBody>
          <a:bodyPr/>
          <a:lstStyle/>
          <a:p>
            <a:fld id="{1FCEF87E-815D-44D1-B0AB-39AF0402D6A8}" type="slidenum">
              <a:rPr lang="en-US" smtClean="0"/>
              <a:t>1</a:t>
            </a:fld>
            <a:endParaRPr lang="en-US"/>
          </a:p>
        </p:txBody>
      </p:sp>
    </p:spTree>
    <p:extLst>
      <p:ext uri="{BB962C8B-B14F-4D97-AF65-F5344CB8AC3E}">
        <p14:creationId xmlns:p14="http://schemas.microsoft.com/office/powerpoint/2010/main" val="27207938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E759A-0732-65F8-ABFC-93E81441B8A8}"/>
              </a:ext>
            </a:extLst>
          </p:cNvPr>
          <p:cNvSpPr>
            <a:spLocks noGrp="1"/>
          </p:cNvSpPr>
          <p:nvPr>
            <p:ph type="title"/>
          </p:nvPr>
        </p:nvSpPr>
        <p:spPr>
          <a:xfrm>
            <a:off x="0" y="35509"/>
            <a:ext cx="12192000" cy="645528"/>
          </a:xfrm>
        </p:spPr>
        <p:style>
          <a:lnRef idx="0">
            <a:schemeClr val="accent2"/>
          </a:lnRef>
          <a:fillRef idx="3">
            <a:schemeClr val="accent2"/>
          </a:fillRef>
          <a:effectRef idx="3">
            <a:schemeClr val="accent2"/>
          </a:effectRef>
          <a:fontRef idx="minor">
            <a:schemeClr val="lt1"/>
          </a:fontRef>
        </p:style>
        <p:txBody>
          <a:bodyPr>
            <a:normAutofit fontScale="90000"/>
          </a:bodyPr>
          <a:lstStyle/>
          <a:p>
            <a:pPr algn="ctr"/>
            <a:r>
              <a:rPr lang="en-GB" b="1" dirty="0">
                <a:solidFill>
                  <a:schemeClr val="tx1"/>
                </a:solidFill>
              </a:rPr>
              <a:t>PROBLEM STATEMENT</a:t>
            </a:r>
            <a:endParaRPr lang="en-US" dirty="0">
              <a:solidFill>
                <a:schemeClr val="tx1"/>
              </a:solidFill>
            </a:endParaRPr>
          </a:p>
        </p:txBody>
      </p:sp>
      <p:sp>
        <p:nvSpPr>
          <p:cNvPr id="3" name="Content Placeholder 2">
            <a:extLst>
              <a:ext uri="{FF2B5EF4-FFF2-40B4-BE49-F238E27FC236}">
                <a16:creationId xmlns:a16="http://schemas.microsoft.com/office/drawing/2014/main" id="{FAE17474-C476-1051-3F37-A2159E2BEE57}"/>
              </a:ext>
            </a:extLst>
          </p:cNvPr>
          <p:cNvSpPr>
            <a:spLocks noGrp="1"/>
          </p:cNvSpPr>
          <p:nvPr>
            <p:ph idx="1"/>
          </p:nvPr>
        </p:nvSpPr>
        <p:spPr>
          <a:xfrm>
            <a:off x="838200" y="818148"/>
            <a:ext cx="10515600" cy="5358816"/>
          </a:xfrm>
        </p:spPr>
        <p:txBody>
          <a:bodyPr>
            <a:normAutofit fontScale="92500"/>
          </a:bodyPr>
          <a:lstStyle/>
          <a:p>
            <a:r>
              <a:rPr lang="en-US" dirty="0"/>
              <a:t>The Knight’s Tour is a classic Artificial Intelligence search problem where a knight must move on an  chessboard in such a way that it visits every square exactly once without revisiting any position. The challenge lies in determining a valid sequence of moves that covers all the cells of the board following the knight’s L-shaped movement rule.</a:t>
            </a:r>
          </a:p>
          <a:p>
            <a:r>
              <a:rPr lang="en-US" dirty="0"/>
              <a:t>The objective of this project is to design and implement a Python program that solves the Knight’s Tour problem using the Backtracking algorithm. The algorithm recursively explores all possible moves of the knight, checks for valid positions, and uses backtracking to undo invalid paths until a complete tour is found. If a solution exists, the program prints the sequence of moves; otherwise, it displays that no solution is possible.</a:t>
            </a:r>
          </a:p>
          <a:p>
            <a:r>
              <a:rPr lang="en-US" dirty="0"/>
              <a:t>This problem demonstrates the power of AI-based search and problem-solving techniques, specifically how backtracking can be used to navigate large search spaces systematically and efficiently.</a:t>
            </a:r>
          </a:p>
        </p:txBody>
      </p:sp>
      <p:sp>
        <p:nvSpPr>
          <p:cNvPr id="4" name="Date Placeholder 3">
            <a:extLst>
              <a:ext uri="{FF2B5EF4-FFF2-40B4-BE49-F238E27FC236}">
                <a16:creationId xmlns:a16="http://schemas.microsoft.com/office/drawing/2014/main" id="{85FF5BCC-B36E-DFE5-103F-31FA12632094}"/>
              </a:ext>
            </a:extLst>
          </p:cNvPr>
          <p:cNvSpPr>
            <a:spLocks noGrp="1"/>
          </p:cNvSpPr>
          <p:nvPr>
            <p:ph type="dt" sz="half" idx="10"/>
          </p:nvPr>
        </p:nvSpPr>
        <p:spPr/>
        <p:txBody>
          <a:bodyPr/>
          <a:lstStyle/>
          <a:p>
            <a:fld id="{316FBEDF-053F-468F-8CCF-D1ACE4FBB50D}" type="datetime1">
              <a:rPr lang="en-US" smtClean="0"/>
              <a:t>10/28/2025</a:t>
            </a:fld>
            <a:endParaRPr lang="en-US"/>
          </a:p>
        </p:txBody>
      </p:sp>
      <p:sp>
        <p:nvSpPr>
          <p:cNvPr id="5" name="Slide Number Placeholder 4">
            <a:extLst>
              <a:ext uri="{FF2B5EF4-FFF2-40B4-BE49-F238E27FC236}">
                <a16:creationId xmlns:a16="http://schemas.microsoft.com/office/drawing/2014/main" id="{70253399-F526-B4B1-D444-32B3A164A39F}"/>
              </a:ext>
            </a:extLst>
          </p:cNvPr>
          <p:cNvSpPr>
            <a:spLocks noGrp="1"/>
          </p:cNvSpPr>
          <p:nvPr>
            <p:ph type="sldNum" sz="quarter" idx="12"/>
          </p:nvPr>
        </p:nvSpPr>
        <p:spPr/>
        <p:txBody>
          <a:bodyPr/>
          <a:lstStyle/>
          <a:p>
            <a:fld id="{1FCEF87E-815D-44D1-B0AB-39AF0402D6A8}" type="slidenum">
              <a:rPr lang="en-US" smtClean="0"/>
              <a:t>2</a:t>
            </a:fld>
            <a:endParaRPr lang="en-US"/>
          </a:p>
        </p:txBody>
      </p:sp>
    </p:spTree>
    <p:extLst>
      <p:ext uri="{BB962C8B-B14F-4D97-AF65-F5344CB8AC3E}">
        <p14:creationId xmlns:p14="http://schemas.microsoft.com/office/powerpoint/2010/main" val="18166147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ACC068-5F54-97E8-2F1C-0538F11269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B2B1AF-B7ED-6DDA-888D-9BCAF08EA5E4}"/>
              </a:ext>
            </a:extLst>
          </p:cNvPr>
          <p:cNvSpPr>
            <a:spLocks noGrp="1"/>
          </p:cNvSpPr>
          <p:nvPr>
            <p:ph type="title"/>
          </p:nvPr>
        </p:nvSpPr>
        <p:spPr>
          <a:xfrm>
            <a:off x="0" y="35509"/>
            <a:ext cx="12192000" cy="645528"/>
          </a:xfrm>
        </p:spPr>
        <p:style>
          <a:lnRef idx="0">
            <a:schemeClr val="accent2"/>
          </a:lnRef>
          <a:fillRef idx="3">
            <a:schemeClr val="accent2"/>
          </a:fillRef>
          <a:effectRef idx="3">
            <a:schemeClr val="accent2"/>
          </a:effectRef>
          <a:fontRef idx="minor">
            <a:schemeClr val="lt1"/>
          </a:fontRef>
        </p:style>
        <p:txBody>
          <a:bodyPr>
            <a:normAutofit fontScale="90000"/>
          </a:bodyPr>
          <a:lstStyle/>
          <a:p>
            <a:pPr algn="ctr"/>
            <a:r>
              <a:rPr lang="en-GB" b="1" dirty="0">
                <a:solidFill>
                  <a:schemeClr val="tx1"/>
                </a:solidFill>
              </a:rPr>
              <a:t>THEORETICAL BACKGROUND</a:t>
            </a:r>
            <a:endParaRPr lang="en-US" dirty="0">
              <a:solidFill>
                <a:schemeClr val="tx1"/>
              </a:solidFill>
            </a:endParaRPr>
          </a:p>
        </p:txBody>
      </p:sp>
      <p:sp>
        <p:nvSpPr>
          <p:cNvPr id="3" name="Content Placeholder 2">
            <a:extLst>
              <a:ext uri="{FF2B5EF4-FFF2-40B4-BE49-F238E27FC236}">
                <a16:creationId xmlns:a16="http://schemas.microsoft.com/office/drawing/2014/main" id="{FE67243E-1300-82BE-9968-6837E801AFFC}"/>
              </a:ext>
            </a:extLst>
          </p:cNvPr>
          <p:cNvSpPr>
            <a:spLocks noGrp="1"/>
          </p:cNvSpPr>
          <p:nvPr>
            <p:ph idx="1"/>
          </p:nvPr>
        </p:nvSpPr>
        <p:spPr>
          <a:xfrm>
            <a:off x="838200" y="818148"/>
            <a:ext cx="10515600" cy="5358816"/>
          </a:xfrm>
        </p:spPr>
        <p:txBody>
          <a:bodyPr>
            <a:normAutofit fontScale="92500" lnSpcReduction="10000"/>
          </a:bodyPr>
          <a:lstStyle/>
          <a:p>
            <a:pPr marL="0" indent="0">
              <a:buNone/>
            </a:pPr>
            <a:r>
              <a:rPr lang="en-US" dirty="0"/>
              <a:t>The Knight’s Tour problem is a well-known combinatorial and AI search problem where a knight must move across a chessboard visiting every square exactly once. It is a classic example of a constraint satisfaction problem and is often solved using search algorithms such as Backtracking or Heuristics.</a:t>
            </a:r>
          </a:p>
          <a:p>
            <a:pPr marL="0" indent="0">
              <a:buNone/>
            </a:pPr>
            <a:r>
              <a:rPr lang="en-US" u="sng" dirty="0"/>
              <a:t>Backtracking Algorithm:</a:t>
            </a:r>
          </a:p>
          <a:p>
            <a:r>
              <a:rPr lang="en-US" dirty="0"/>
              <a:t>Backtracking is a depth-first search (DFS)-based algorithm used to find all possible solutions by exploring one path at a time and reverting (backtracking) when a move leads to an invalid or incomplete solution. It is widely applied in solving problems like the N-Queens, Sudoku, Maze Solving, and Knight’s Tour .</a:t>
            </a:r>
          </a:p>
          <a:p>
            <a:r>
              <a:rPr lang="en-US" dirty="0"/>
              <a:t>In this problem, the knight starts from an initial position and tries all valid moves one by one. If a move leads to a dead end, it backtracks to the previous step and tries the next possible move. The process continues until all  cells are visited.</a:t>
            </a:r>
          </a:p>
        </p:txBody>
      </p:sp>
      <p:sp>
        <p:nvSpPr>
          <p:cNvPr id="4" name="Date Placeholder 3">
            <a:extLst>
              <a:ext uri="{FF2B5EF4-FFF2-40B4-BE49-F238E27FC236}">
                <a16:creationId xmlns:a16="http://schemas.microsoft.com/office/drawing/2014/main" id="{4AF593AB-ABA6-D8E8-42D9-A38FB7B4DB45}"/>
              </a:ext>
            </a:extLst>
          </p:cNvPr>
          <p:cNvSpPr>
            <a:spLocks noGrp="1"/>
          </p:cNvSpPr>
          <p:nvPr>
            <p:ph type="dt" sz="half" idx="10"/>
          </p:nvPr>
        </p:nvSpPr>
        <p:spPr/>
        <p:txBody>
          <a:bodyPr/>
          <a:lstStyle/>
          <a:p>
            <a:fld id="{316FBEDF-053F-468F-8CCF-D1ACE4FBB50D}" type="datetime1">
              <a:rPr lang="en-US" smtClean="0"/>
              <a:t>10/28/2025</a:t>
            </a:fld>
            <a:endParaRPr lang="en-US"/>
          </a:p>
        </p:txBody>
      </p:sp>
      <p:sp>
        <p:nvSpPr>
          <p:cNvPr id="5" name="Slide Number Placeholder 4">
            <a:extLst>
              <a:ext uri="{FF2B5EF4-FFF2-40B4-BE49-F238E27FC236}">
                <a16:creationId xmlns:a16="http://schemas.microsoft.com/office/drawing/2014/main" id="{40AE40CC-B05F-6325-A926-99504CD4A72F}"/>
              </a:ext>
            </a:extLst>
          </p:cNvPr>
          <p:cNvSpPr>
            <a:spLocks noGrp="1"/>
          </p:cNvSpPr>
          <p:nvPr>
            <p:ph type="sldNum" sz="quarter" idx="12"/>
          </p:nvPr>
        </p:nvSpPr>
        <p:spPr/>
        <p:txBody>
          <a:bodyPr/>
          <a:lstStyle/>
          <a:p>
            <a:fld id="{1FCEF87E-815D-44D1-B0AB-39AF0402D6A8}" type="slidenum">
              <a:rPr lang="en-US" smtClean="0"/>
              <a:t>3</a:t>
            </a:fld>
            <a:endParaRPr lang="en-US"/>
          </a:p>
        </p:txBody>
      </p:sp>
    </p:spTree>
    <p:extLst>
      <p:ext uri="{BB962C8B-B14F-4D97-AF65-F5344CB8AC3E}">
        <p14:creationId xmlns:p14="http://schemas.microsoft.com/office/powerpoint/2010/main" val="28326923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1DC09E-4A08-20CC-2806-AB120C72B39D}"/>
              </a:ext>
            </a:extLst>
          </p:cNvPr>
          <p:cNvSpPr>
            <a:spLocks noGrp="1"/>
          </p:cNvSpPr>
          <p:nvPr>
            <p:ph type="title"/>
          </p:nvPr>
        </p:nvSpPr>
        <p:spPr>
          <a:xfrm>
            <a:off x="770467" y="136525"/>
            <a:ext cx="10515600" cy="718608"/>
          </a:xfrm>
        </p:spPr>
        <p:style>
          <a:lnRef idx="0">
            <a:schemeClr val="accent2"/>
          </a:lnRef>
          <a:fillRef idx="3">
            <a:schemeClr val="accent2"/>
          </a:fillRef>
          <a:effectRef idx="3">
            <a:schemeClr val="accent2"/>
          </a:effectRef>
          <a:fontRef idx="minor">
            <a:schemeClr val="lt1"/>
          </a:fontRef>
        </p:style>
        <p:txBody>
          <a:bodyPr/>
          <a:lstStyle/>
          <a:p>
            <a:r>
              <a:rPr lang="en-IN" dirty="0">
                <a:ln>
                  <a:solidFill>
                    <a:schemeClr val="accent2">
                      <a:lumMod val="75000"/>
                    </a:schemeClr>
                  </a:solidFill>
                </a:ln>
                <a:solidFill>
                  <a:sysClr val="windowText" lastClr="000000"/>
                </a:solidFill>
              </a:rPr>
              <a:t>                       </a:t>
            </a:r>
            <a:r>
              <a:rPr lang="en-IN" sz="4000" b="1" dirty="0">
                <a:ln>
                  <a:solidFill>
                    <a:schemeClr val="accent2">
                      <a:lumMod val="75000"/>
                    </a:schemeClr>
                  </a:solidFill>
                </a:ln>
                <a:solidFill>
                  <a:sysClr val="windowText" lastClr="000000"/>
                </a:solidFill>
                <a:latin typeface="Calibri" panose="020F0502020204030204" pitchFamily="34" charset="0"/>
                <a:ea typeface="Calibri" panose="020F0502020204030204" pitchFamily="34" charset="0"/>
                <a:cs typeface="Calibri" panose="020F0502020204030204" pitchFamily="34" charset="0"/>
              </a:rPr>
              <a:t>LITERATURE SURVEY</a:t>
            </a:r>
          </a:p>
        </p:txBody>
      </p:sp>
      <p:sp>
        <p:nvSpPr>
          <p:cNvPr id="3" name="Content Placeholder 2">
            <a:extLst>
              <a:ext uri="{FF2B5EF4-FFF2-40B4-BE49-F238E27FC236}">
                <a16:creationId xmlns:a16="http://schemas.microsoft.com/office/drawing/2014/main" id="{42387B6F-6DD6-BA8B-F214-D69123E0C36C}"/>
              </a:ext>
            </a:extLst>
          </p:cNvPr>
          <p:cNvSpPr>
            <a:spLocks noGrp="1"/>
          </p:cNvSpPr>
          <p:nvPr>
            <p:ph idx="1"/>
          </p:nvPr>
        </p:nvSpPr>
        <p:spPr>
          <a:xfrm>
            <a:off x="838200" y="1066800"/>
            <a:ext cx="10515600" cy="5289550"/>
          </a:xfrm>
        </p:spPr>
        <p:txBody>
          <a:bodyPr/>
          <a:lstStyle/>
          <a:p>
            <a:r>
              <a:rPr lang="en-US" dirty="0"/>
              <a:t>Leonhard Euler (1759) first studied the Knight’s Tour as a mathematical puzzle and introduced early solutions.</a:t>
            </a:r>
          </a:p>
          <a:p>
            <a:r>
              <a:rPr lang="en-US" dirty="0" err="1"/>
              <a:t>Warnsdorff’s</a:t>
            </a:r>
            <a:r>
              <a:rPr lang="en-US" dirty="0"/>
              <a:t> Heuristic (1823) proposed a rule to minimize dead ends by always choosing the next move with the fewest onward paths.</a:t>
            </a:r>
          </a:p>
          <a:p>
            <a:r>
              <a:rPr lang="en-US" dirty="0"/>
              <a:t>Modern researchers have also explored heuristic, divide-and-conquer, and graph-based approaches to reduce computation time and improve efficiency.</a:t>
            </a:r>
          </a:p>
          <a:p>
            <a:r>
              <a:rPr lang="en-US" dirty="0"/>
              <a:t>However, Backtracking remains the simplest and most illustrative method for academic understanding and demonstration of search-based AI problem solving.</a:t>
            </a:r>
            <a:endParaRPr lang="en-IN" dirty="0"/>
          </a:p>
        </p:txBody>
      </p:sp>
      <p:sp>
        <p:nvSpPr>
          <p:cNvPr id="4" name="Date Placeholder 3">
            <a:extLst>
              <a:ext uri="{FF2B5EF4-FFF2-40B4-BE49-F238E27FC236}">
                <a16:creationId xmlns:a16="http://schemas.microsoft.com/office/drawing/2014/main" id="{DE38D588-AB22-E428-56FD-1A78DFE6B342}"/>
              </a:ext>
            </a:extLst>
          </p:cNvPr>
          <p:cNvSpPr>
            <a:spLocks noGrp="1"/>
          </p:cNvSpPr>
          <p:nvPr>
            <p:ph type="dt" sz="half" idx="10"/>
          </p:nvPr>
        </p:nvSpPr>
        <p:spPr/>
        <p:txBody>
          <a:bodyPr/>
          <a:lstStyle/>
          <a:p>
            <a:fld id="{42A9C543-C1A5-4BB5-A80B-9531F5C51CEB}" type="datetime1">
              <a:rPr lang="en-US" smtClean="0"/>
              <a:t>10/28/2025</a:t>
            </a:fld>
            <a:endParaRPr lang="en-US"/>
          </a:p>
        </p:txBody>
      </p:sp>
      <p:sp>
        <p:nvSpPr>
          <p:cNvPr id="5" name="Slide Number Placeholder 4">
            <a:extLst>
              <a:ext uri="{FF2B5EF4-FFF2-40B4-BE49-F238E27FC236}">
                <a16:creationId xmlns:a16="http://schemas.microsoft.com/office/drawing/2014/main" id="{E7234D3F-39B1-7A39-705C-48BD30AAFD7C}"/>
              </a:ext>
            </a:extLst>
          </p:cNvPr>
          <p:cNvSpPr>
            <a:spLocks noGrp="1"/>
          </p:cNvSpPr>
          <p:nvPr>
            <p:ph type="sldNum" sz="quarter" idx="12"/>
          </p:nvPr>
        </p:nvSpPr>
        <p:spPr/>
        <p:txBody>
          <a:bodyPr/>
          <a:lstStyle/>
          <a:p>
            <a:fld id="{1FCEF87E-815D-44D1-B0AB-39AF0402D6A8}" type="slidenum">
              <a:rPr lang="en-US" smtClean="0"/>
              <a:t>4</a:t>
            </a:fld>
            <a:endParaRPr lang="en-US"/>
          </a:p>
        </p:txBody>
      </p:sp>
    </p:spTree>
    <p:extLst>
      <p:ext uri="{BB962C8B-B14F-4D97-AF65-F5344CB8AC3E}">
        <p14:creationId xmlns:p14="http://schemas.microsoft.com/office/powerpoint/2010/main" val="3304721545"/>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a:extLst>
            <a:ext uri="{FF2B5EF4-FFF2-40B4-BE49-F238E27FC236}">
              <a16:creationId xmlns:a16="http://schemas.microsoft.com/office/drawing/2014/main" id="{CB9823B8-AE16-BDC9-F301-C42B5F0045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DC8A73-96A4-91D8-9F0B-8F7C798BB5F0}"/>
              </a:ext>
            </a:extLst>
          </p:cNvPr>
          <p:cNvSpPr>
            <a:spLocks noGrp="1"/>
          </p:cNvSpPr>
          <p:nvPr>
            <p:ph type="title"/>
          </p:nvPr>
        </p:nvSpPr>
        <p:spPr>
          <a:xfrm>
            <a:off x="770467" y="136525"/>
            <a:ext cx="10515600" cy="718608"/>
          </a:xfrm>
        </p:spPr>
        <p:style>
          <a:lnRef idx="0">
            <a:schemeClr val="accent2"/>
          </a:lnRef>
          <a:fillRef idx="3">
            <a:schemeClr val="accent2"/>
          </a:fillRef>
          <a:effectRef idx="3">
            <a:schemeClr val="accent2"/>
          </a:effectRef>
          <a:fontRef idx="minor">
            <a:schemeClr val="lt1"/>
          </a:fontRef>
        </p:style>
        <p:txBody>
          <a:bodyPr>
            <a:normAutofit/>
          </a:bodyPr>
          <a:lstStyle/>
          <a:p>
            <a:r>
              <a:rPr lang="en-IN" dirty="0">
                <a:ln>
                  <a:solidFill>
                    <a:schemeClr val="accent2">
                      <a:lumMod val="75000"/>
                    </a:schemeClr>
                  </a:solidFill>
                </a:ln>
                <a:solidFill>
                  <a:sysClr val="windowText" lastClr="000000"/>
                </a:solidFill>
              </a:rPr>
              <a:t>          </a:t>
            </a:r>
            <a:r>
              <a:rPr lang="en-IN" sz="3100" b="1" dirty="0">
                <a:ln>
                  <a:solidFill>
                    <a:schemeClr val="accent2">
                      <a:lumMod val="75000"/>
                    </a:schemeClr>
                  </a:solidFill>
                </a:ln>
                <a:solidFill>
                  <a:sysClr val="windowText" lastClr="000000"/>
                </a:solidFill>
                <a:latin typeface="Calibri" panose="020F0502020204030204" pitchFamily="34" charset="0"/>
                <a:ea typeface="Calibri" panose="020F0502020204030204" pitchFamily="34" charset="0"/>
                <a:cs typeface="Calibri" panose="020F0502020204030204" pitchFamily="34" charset="0"/>
              </a:rPr>
              <a:t>JUSTIFICATION FOR CHOOSING BACKTRACKING</a:t>
            </a:r>
            <a:r>
              <a:rPr lang="en-IN" sz="3100" dirty="0">
                <a:ln>
                  <a:solidFill>
                    <a:schemeClr val="accent2">
                      <a:lumMod val="75000"/>
                    </a:schemeClr>
                  </a:solidFill>
                </a:ln>
                <a:solidFill>
                  <a:sysClr val="windowText" lastClr="000000"/>
                </a:solidFill>
              </a:rPr>
              <a:t>   </a:t>
            </a:r>
            <a:endParaRPr lang="en-IN" sz="3100" b="1" dirty="0">
              <a:ln>
                <a:solidFill>
                  <a:schemeClr val="accent2">
                    <a:lumMod val="75000"/>
                  </a:schemeClr>
                </a:solidFill>
              </a:ln>
              <a:solidFill>
                <a:sysClr val="windowText" lastClr="000000"/>
              </a:solidFill>
              <a:latin typeface="Calibri" panose="020F0502020204030204" pitchFamily="34" charset="0"/>
              <a:ea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id="{DCC6CE6F-D51B-1969-FCA2-F45E570C0ED3}"/>
              </a:ext>
            </a:extLst>
          </p:cNvPr>
          <p:cNvSpPr>
            <a:spLocks noGrp="1"/>
          </p:cNvSpPr>
          <p:nvPr>
            <p:ph idx="1"/>
          </p:nvPr>
        </p:nvSpPr>
        <p:spPr>
          <a:xfrm>
            <a:off x="838200" y="1066800"/>
            <a:ext cx="10515600" cy="5289550"/>
          </a:xfrm>
        </p:spPr>
        <p:txBody>
          <a:bodyPr/>
          <a:lstStyle/>
          <a:p>
            <a:pPr marL="0" indent="0">
              <a:buNone/>
            </a:pPr>
            <a:r>
              <a:rPr lang="en-US" dirty="0"/>
              <a:t>The Backtracking algorithm is chosen because:</a:t>
            </a:r>
          </a:p>
          <a:p>
            <a:pPr marL="514350" indent="-514350">
              <a:buAutoNum type="arabicPeriod"/>
            </a:pPr>
            <a:r>
              <a:rPr lang="en-US" dirty="0"/>
              <a:t>It is simple and easy to implement for understanding AI search problems.</a:t>
            </a:r>
          </a:p>
          <a:p>
            <a:pPr marL="514350" indent="-514350">
              <a:buAutoNum type="arabicPeriod"/>
            </a:pPr>
            <a:r>
              <a:rPr lang="en-US" dirty="0"/>
              <a:t>It guarantees finding a valid tour if one exists (complete search).</a:t>
            </a:r>
          </a:p>
          <a:p>
            <a:pPr marL="514350" indent="-514350">
              <a:buAutoNum type="arabicPeriod"/>
            </a:pPr>
            <a:r>
              <a:rPr lang="en-US" dirty="0"/>
              <a:t>It clearly demonstrates recursion, state-space exploration, and decision-making in AI.</a:t>
            </a:r>
          </a:p>
          <a:p>
            <a:pPr marL="514350" indent="-514350">
              <a:buAutoNum type="arabicPeriod"/>
            </a:pPr>
            <a:r>
              <a:rPr lang="en-US" dirty="0"/>
              <a:t>It provides a foundational understanding before moving on to heuristic or optimization-based methods.</a:t>
            </a:r>
            <a:endParaRPr lang="en-IN" dirty="0"/>
          </a:p>
        </p:txBody>
      </p:sp>
      <p:sp>
        <p:nvSpPr>
          <p:cNvPr id="4" name="Date Placeholder 3">
            <a:extLst>
              <a:ext uri="{FF2B5EF4-FFF2-40B4-BE49-F238E27FC236}">
                <a16:creationId xmlns:a16="http://schemas.microsoft.com/office/drawing/2014/main" id="{E7778CEE-6CE4-3D57-6797-3FE8B17C6C09}"/>
              </a:ext>
            </a:extLst>
          </p:cNvPr>
          <p:cNvSpPr>
            <a:spLocks noGrp="1"/>
          </p:cNvSpPr>
          <p:nvPr>
            <p:ph type="dt" sz="half" idx="10"/>
          </p:nvPr>
        </p:nvSpPr>
        <p:spPr/>
        <p:txBody>
          <a:bodyPr/>
          <a:lstStyle/>
          <a:p>
            <a:fld id="{42A9C543-C1A5-4BB5-A80B-9531F5C51CEB}" type="datetime1">
              <a:rPr lang="en-US" smtClean="0"/>
              <a:t>10/28/2025</a:t>
            </a:fld>
            <a:endParaRPr lang="en-US"/>
          </a:p>
        </p:txBody>
      </p:sp>
      <p:sp>
        <p:nvSpPr>
          <p:cNvPr id="5" name="Slide Number Placeholder 4">
            <a:extLst>
              <a:ext uri="{FF2B5EF4-FFF2-40B4-BE49-F238E27FC236}">
                <a16:creationId xmlns:a16="http://schemas.microsoft.com/office/drawing/2014/main" id="{3A4FEE1D-8D7B-4309-9EC8-AB5EFD6497FF}"/>
              </a:ext>
            </a:extLst>
          </p:cNvPr>
          <p:cNvSpPr>
            <a:spLocks noGrp="1"/>
          </p:cNvSpPr>
          <p:nvPr>
            <p:ph type="sldNum" sz="quarter" idx="12"/>
          </p:nvPr>
        </p:nvSpPr>
        <p:spPr/>
        <p:txBody>
          <a:bodyPr/>
          <a:lstStyle/>
          <a:p>
            <a:fld id="{1FCEF87E-815D-44D1-B0AB-39AF0402D6A8}" type="slidenum">
              <a:rPr lang="en-US" smtClean="0"/>
              <a:t>5</a:t>
            </a:fld>
            <a:endParaRPr lang="en-US"/>
          </a:p>
        </p:txBody>
      </p:sp>
    </p:spTree>
    <p:extLst>
      <p:ext uri="{BB962C8B-B14F-4D97-AF65-F5344CB8AC3E}">
        <p14:creationId xmlns:p14="http://schemas.microsoft.com/office/powerpoint/2010/main" val="1337264144"/>
      </p:ext>
    </p:extLst>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EE6490E8-424A-77B2-F827-61875C04C09A}"/>
              </a:ext>
            </a:extLst>
          </p:cNvPr>
          <p:cNvSpPr>
            <a:spLocks noGrp="1"/>
          </p:cNvSpPr>
          <p:nvPr>
            <p:ph type="title"/>
          </p:nvPr>
        </p:nvSpPr>
        <p:spPr>
          <a:xfrm>
            <a:off x="838200" y="365125"/>
            <a:ext cx="10515600" cy="777875"/>
          </a:xfrm>
        </p:spPr>
        <p:style>
          <a:lnRef idx="0">
            <a:schemeClr val="accent2"/>
          </a:lnRef>
          <a:fillRef idx="3">
            <a:schemeClr val="accent2"/>
          </a:fillRef>
          <a:effectRef idx="3">
            <a:schemeClr val="accent2"/>
          </a:effectRef>
          <a:fontRef idx="minor">
            <a:schemeClr val="lt1"/>
          </a:fontRef>
        </p:style>
        <p:txBody>
          <a:bodyPr>
            <a:normAutofit/>
          </a:bodyPr>
          <a:lstStyle/>
          <a:p>
            <a:pPr algn="ctr"/>
            <a:r>
              <a:rPr lang="en-IN" sz="4000" b="1" dirty="0">
                <a:ln w="0"/>
                <a:solidFill>
                  <a:schemeClr val="tx1"/>
                </a:solidFill>
                <a:effectLst>
                  <a:outerShdw blurRad="38100" dist="19050" dir="2700000" algn="tl" rotWithShape="0">
                    <a:schemeClr val="dk1">
                      <a:alpha val="40000"/>
                    </a:schemeClr>
                  </a:outerShdw>
                </a:effectLst>
              </a:rPr>
              <a:t>ALGORITHM EXPLANATION</a:t>
            </a:r>
            <a:endParaRPr lang="en-IN" sz="4000" b="1" dirty="0"/>
          </a:p>
        </p:txBody>
      </p:sp>
      <p:sp>
        <p:nvSpPr>
          <p:cNvPr id="13" name="Content Placeholder 12">
            <a:extLst>
              <a:ext uri="{FF2B5EF4-FFF2-40B4-BE49-F238E27FC236}">
                <a16:creationId xmlns:a16="http://schemas.microsoft.com/office/drawing/2014/main" id="{E49E4185-7501-36A6-6314-142D9FA5C208}"/>
              </a:ext>
            </a:extLst>
          </p:cNvPr>
          <p:cNvSpPr>
            <a:spLocks noGrp="1"/>
          </p:cNvSpPr>
          <p:nvPr>
            <p:ph idx="1"/>
          </p:nvPr>
        </p:nvSpPr>
        <p:spPr>
          <a:xfrm>
            <a:off x="838200" y="1346200"/>
            <a:ext cx="10515600" cy="4830763"/>
          </a:xfrm>
        </p:spPr>
        <p:txBody>
          <a:bodyPr>
            <a:normAutofit fontScale="92500" lnSpcReduction="20000"/>
          </a:bodyPr>
          <a:lstStyle/>
          <a:p>
            <a:pPr marL="0" indent="0">
              <a:buNone/>
            </a:pPr>
            <a:r>
              <a:rPr lang="en-US" u="sng" dirty="0"/>
              <a:t>Algorithm Steps:</a:t>
            </a:r>
          </a:p>
          <a:p>
            <a:pPr marL="514350" indent="-514350">
              <a:buAutoNum type="arabicPeriod"/>
            </a:pPr>
            <a:r>
              <a:rPr lang="en-US" dirty="0"/>
              <a:t>Start from the initial position (0,0) and mark it as visited.</a:t>
            </a:r>
          </a:p>
          <a:p>
            <a:pPr marL="514350" indent="-514350">
              <a:buAutoNum type="arabicPeriod"/>
            </a:pPr>
            <a:r>
              <a:rPr lang="en-US" dirty="0"/>
              <a:t>Try all 8 possible knight moves from the current position.</a:t>
            </a:r>
          </a:p>
          <a:p>
            <a:pPr marL="514350" indent="-514350">
              <a:buAutoNum type="arabicPeriod"/>
            </a:pPr>
            <a:r>
              <a:rPr lang="en-US" dirty="0"/>
              <a:t>For each move, check if the next square is inside the board and unvisited.</a:t>
            </a:r>
          </a:p>
          <a:p>
            <a:pPr marL="514350" indent="-514350">
              <a:buAutoNum type="arabicPeriod"/>
            </a:pPr>
            <a:r>
              <a:rPr lang="en-US" dirty="0"/>
              <a:t>If valid, mark it and recursively continue to the next step.</a:t>
            </a:r>
          </a:p>
          <a:p>
            <a:pPr marL="514350" indent="-514350">
              <a:buAutoNum type="arabicPeriod"/>
            </a:pPr>
            <a:r>
              <a:rPr lang="en-US" dirty="0"/>
              <a:t>If a dead end is reached, backtrack by unmarking the square and try another path.</a:t>
            </a:r>
          </a:p>
          <a:p>
            <a:pPr marL="514350" indent="-514350">
              <a:buAutoNum type="arabicPeriod"/>
            </a:pPr>
            <a:r>
              <a:rPr lang="en-US" dirty="0"/>
              <a:t>Continue until all squares are visited or no valid path remains.</a:t>
            </a:r>
          </a:p>
          <a:p>
            <a:pPr marL="0" indent="0">
              <a:buNone/>
            </a:pPr>
            <a:r>
              <a:rPr lang="en-US" u="sng" dirty="0"/>
              <a:t>Example (5×5 Board):</a:t>
            </a:r>
          </a:p>
          <a:p>
            <a:pPr marL="0" indent="0">
              <a:buNone/>
            </a:pPr>
            <a:r>
              <a:rPr lang="en-US" dirty="0"/>
              <a:t>The knight starts at (0,0).Moves to (2,1), (4,2), and so on, following the recursive </a:t>
            </a:r>
            <a:r>
              <a:rPr lang="en-US" dirty="0" err="1"/>
              <a:t>pattern.Once</a:t>
            </a:r>
            <a:r>
              <a:rPr lang="en-US" dirty="0"/>
              <a:t> all 25 cells are filled with unique move numbers, the tour is </a:t>
            </a:r>
            <a:r>
              <a:rPr lang="en-US" dirty="0" err="1"/>
              <a:t>complete.If</a:t>
            </a:r>
            <a:r>
              <a:rPr lang="en-US" dirty="0"/>
              <a:t> no solution exists, the algorithm displays “No solution exists”.</a:t>
            </a:r>
            <a:endParaRPr lang="en-IN" dirty="0"/>
          </a:p>
        </p:txBody>
      </p:sp>
      <p:sp>
        <p:nvSpPr>
          <p:cNvPr id="4" name="Date Placeholder 3">
            <a:extLst>
              <a:ext uri="{FF2B5EF4-FFF2-40B4-BE49-F238E27FC236}">
                <a16:creationId xmlns:a16="http://schemas.microsoft.com/office/drawing/2014/main" id="{76E4456A-BCCF-78D0-EA9A-26DE627F2AD1}"/>
              </a:ext>
            </a:extLst>
          </p:cNvPr>
          <p:cNvSpPr>
            <a:spLocks noGrp="1"/>
          </p:cNvSpPr>
          <p:nvPr>
            <p:ph type="dt" sz="half" idx="10"/>
          </p:nvPr>
        </p:nvSpPr>
        <p:spPr>
          <a:xfrm>
            <a:off x="838200" y="6356350"/>
            <a:ext cx="2743200" cy="365125"/>
          </a:xfrm>
        </p:spPr>
        <p:txBody>
          <a:bodyPr/>
          <a:lstStyle/>
          <a:p>
            <a:fld id="{42A9C543-C1A5-4BB5-A80B-9531F5C51CEB}" type="datetime1">
              <a:rPr lang="en-US" smtClean="0"/>
              <a:pPr/>
              <a:t>10/28/2025</a:t>
            </a:fld>
            <a:endParaRPr lang="en-US"/>
          </a:p>
        </p:txBody>
      </p:sp>
      <p:sp>
        <p:nvSpPr>
          <p:cNvPr id="5" name="Slide Number Placeholder 4">
            <a:extLst>
              <a:ext uri="{FF2B5EF4-FFF2-40B4-BE49-F238E27FC236}">
                <a16:creationId xmlns:a16="http://schemas.microsoft.com/office/drawing/2014/main" id="{E53472E8-5C14-96DF-E151-1E6242BAA3EF}"/>
              </a:ext>
            </a:extLst>
          </p:cNvPr>
          <p:cNvSpPr>
            <a:spLocks noGrp="1"/>
          </p:cNvSpPr>
          <p:nvPr>
            <p:ph type="sldNum" sz="quarter" idx="12"/>
          </p:nvPr>
        </p:nvSpPr>
        <p:spPr>
          <a:xfrm>
            <a:off x="8610600" y="6356350"/>
            <a:ext cx="2743200" cy="365125"/>
          </a:xfrm>
        </p:spPr>
        <p:txBody>
          <a:bodyPr/>
          <a:lstStyle/>
          <a:p>
            <a:fld id="{1FCEF87E-815D-44D1-B0AB-39AF0402D6A8}" type="slidenum">
              <a:rPr lang="en-US" smtClean="0"/>
              <a:pPr/>
              <a:t>6</a:t>
            </a:fld>
            <a:endParaRPr lang="en-US"/>
          </a:p>
        </p:txBody>
      </p:sp>
    </p:spTree>
    <p:extLst>
      <p:ext uri="{BB962C8B-B14F-4D97-AF65-F5344CB8AC3E}">
        <p14:creationId xmlns:p14="http://schemas.microsoft.com/office/powerpoint/2010/main" val="4817449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A34F6B-2294-8100-6428-71DD4A23A3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876350-5987-57CB-5096-A77DCA2009EF}"/>
              </a:ext>
            </a:extLst>
          </p:cNvPr>
          <p:cNvSpPr>
            <a:spLocks noGrp="1"/>
          </p:cNvSpPr>
          <p:nvPr>
            <p:ph type="title"/>
          </p:nvPr>
        </p:nvSpPr>
        <p:spPr>
          <a:xfrm>
            <a:off x="0" y="365126"/>
            <a:ext cx="12192000" cy="645528"/>
          </a:xfrm>
        </p:spPr>
        <p:style>
          <a:lnRef idx="0">
            <a:schemeClr val="accent2"/>
          </a:lnRef>
          <a:fillRef idx="3">
            <a:schemeClr val="accent2"/>
          </a:fillRef>
          <a:effectRef idx="3">
            <a:schemeClr val="accent2"/>
          </a:effectRef>
          <a:fontRef idx="minor">
            <a:schemeClr val="lt1"/>
          </a:fontRef>
        </p:style>
        <p:txBody>
          <a:bodyPr>
            <a:normAutofit fontScale="90000"/>
          </a:bodyPr>
          <a:lstStyle/>
          <a:p>
            <a:pPr algn="ctr"/>
            <a:r>
              <a:rPr lang="en-GB" b="1" dirty="0">
                <a:solidFill>
                  <a:schemeClr val="tx1"/>
                </a:solidFill>
              </a:rPr>
              <a:t>IMPLEMENTATION AND CODE</a:t>
            </a:r>
            <a:endParaRPr lang="en-US" dirty="0">
              <a:solidFill>
                <a:schemeClr val="tx1"/>
              </a:solidFill>
            </a:endParaRPr>
          </a:p>
        </p:txBody>
      </p:sp>
      <p:sp>
        <p:nvSpPr>
          <p:cNvPr id="3" name="Content Placeholder 2">
            <a:extLst>
              <a:ext uri="{FF2B5EF4-FFF2-40B4-BE49-F238E27FC236}">
                <a16:creationId xmlns:a16="http://schemas.microsoft.com/office/drawing/2014/main" id="{A229904C-7E5E-5862-ACA4-167CDBC5044B}"/>
              </a:ext>
            </a:extLst>
          </p:cNvPr>
          <p:cNvSpPr>
            <a:spLocks noGrp="1"/>
          </p:cNvSpPr>
          <p:nvPr>
            <p:ph idx="1"/>
          </p:nvPr>
        </p:nvSpPr>
        <p:spPr>
          <a:xfrm>
            <a:off x="838200" y="1267326"/>
            <a:ext cx="10515600" cy="4909637"/>
          </a:xfrm>
        </p:spPr>
        <p:txBody>
          <a:bodyPr/>
          <a:lstStyle/>
          <a:p>
            <a:r>
              <a:rPr lang="en-GB" dirty="0"/>
              <a:t>Link to code in Git-hub Repository</a:t>
            </a:r>
          </a:p>
          <a:p>
            <a:endParaRPr lang="en-GB" dirty="0"/>
          </a:p>
          <a:p>
            <a:endParaRPr lang="en-US" dirty="0"/>
          </a:p>
        </p:txBody>
      </p:sp>
      <p:sp>
        <p:nvSpPr>
          <p:cNvPr id="4" name="Date Placeholder 3">
            <a:extLst>
              <a:ext uri="{FF2B5EF4-FFF2-40B4-BE49-F238E27FC236}">
                <a16:creationId xmlns:a16="http://schemas.microsoft.com/office/drawing/2014/main" id="{C0BC0E82-F7C5-E4B3-8BB9-1583AC631384}"/>
              </a:ext>
            </a:extLst>
          </p:cNvPr>
          <p:cNvSpPr>
            <a:spLocks noGrp="1"/>
          </p:cNvSpPr>
          <p:nvPr>
            <p:ph type="dt" sz="half" idx="10"/>
          </p:nvPr>
        </p:nvSpPr>
        <p:spPr/>
        <p:txBody>
          <a:bodyPr/>
          <a:lstStyle/>
          <a:p>
            <a:fld id="{C5480D13-07B8-4CF5-901F-BD1025D74351}" type="datetime1">
              <a:rPr lang="en-US" smtClean="0"/>
              <a:t>10/28/2025</a:t>
            </a:fld>
            <a:endParaRPr lang="en-US"/>
          </a:p>
        </p:txBody>
      </p:sp>
      <p:sp>
        <p:nvSpPr>
          <p:cNvPr id="5" name="Slide Number Placeholder 4">
            <a:extLst>
              <a:ext uri="{FF2B5EF4-FFF2-40B4-BE49-F238E27FC236}">
                <a16:creationId xmlns:a16="http://schemas.microsoft.com/office/drawing/2014/main" id="{04775014-201C-1110-C957-46A30A1C2417}"/>
              </a:ext>
            </a:extLst>
          </p:cNvPr>
          <p:cNvSpPr>
            <a:spLocks noGrp="1"/>
          </p:cNvSpPr>
          <p:nvPr>
            <p:ph type="sldNum" sz="quarter" idx="12"/>
          </p:nvPr>
        </p:nvSpPr>
        <p:spPr/>
        <p:txBody>
          <a:bodyPr/>
          <a:lstStyle/>
          <a:p>
            <a:fld id="{1FCEF87E-815D-44D1-B0AB-39AF0402D6A8}" type="slidenum">
              <a:rPr lang="en-US" smtClean="0"/>
              <a:t>7</a:t>
            </a:fld>
            <a:endParaRPr lang="en-US"/>
          </a:p>
        </p:txBody>
      </p:sp>
      <p:graphicFrame>
        <p:nvGraphicFramePr>
          <p:cNvPr id="7" name="Table 6">
            <a:extLst>
              <a:ext uri="{FF2B5EF4-FFF2-40B4-BE49-F238E27FC236}">
                <a16:creationId xmlns:a16="http://schemas.microsoft.com/office/drawing/2014/main" id="{ACE64048-76D1-E559-97A6-1E9DA8CC9F64}"/>
              </a:ext>
            </a:extLst>
          </p:cNvPr>
          <p:cNvGraphicFramePr>
            <a:graphicFrameLocks noGrp="1"/>
          </p:cNvGraphicFramePr>
          <p:nvPr>
            <p:extLst>
              <p:ext uri="{D42A27DB-BD31-4B8C-83A1-F6EECF244321}">
                <p14:modId xmlns:p14="http://schemas.microsoft.com/office/powerpoint/2010/main" val="501919928"/>
              </p:ext>
            </p:extLst>
          </p:nvPr>
        </p:nvGraphicFramePr>
        <p:xfrm>
          <a:off x="1854200" y="2205222"/>
          <a:ext cx="8128000" cy="3931920"/>
        </p:xfrm>
        <a:graphic>
          <a:graphicData uri="http://schemas.openxmlformats.org/drawingml/2006/table">
            <a:tbl>
              <a:tblPr firstRow="1" bandRow="1">
                <a:tableStyleId>{21E4AEA4-8DFA-4A89-87EB-49C32662AFE0}</a:tableStyleId>
              </a:tblPr>
              <a:tblGrid>
                <a:gridCol w="4064000">
                  <a:extLst>
                    <a:ext uri="{9D8B030D-6E8A-4147-A177-3AD203B41FA5}">
                      <a16:colId xmlns:a16="http://schemas.microsoft.com/office/drawing/2014/main" val="4052004335"/>
                    </a:ext>
                  </a:extLst>
                </a:gridCol>
                <a:gridCol w="4064000">
                  <a:extLst>
                    <a:ext uri="{9D8B030D-6E8A-4147-A177-3AD203B41FA5}">
                      <a16:colId xmlns:a16="http://schemas.microsoft.com/office/drawing/2014/main" val="1251959847"/>
                    </a:ext>
                  </a:extLst>
                </a:gridCol>
              </a:tblGrid>
              <a:tr h="0">
                <a:tc>
                  <a:txBody>
                    <a:bodyPr/>
                    <a:lstStyle/>
                    <a:p>
                      <a:r>
                        <a:rPr lang="en-GB" dirty="0">
                          <a:solidFill>
                            <a:schemeClr val="tx1"/>
                          </a:solidFill>
                        </a:rPr>
                        <a:t>List</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dirty="0">
                          <a:solidFill>
                            <a:schemeClr val="tx1"/>
                          </a:solidFill>
                        </a:rPr>
                        <a:t>Git-hub Repository Links</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9369799"/>
                  </a:ext>
                </a:extLst>
              </a:tr>
              <a:tr h="370840">
                <a:tc>
                  <a:txBody>
                    <a:bodyPr/>
                    <a:lstStyle/>
                    <a:p>
                      <a:r>
                        <a:rPr lang="en-GB" dirty="0">
                          <a:solidFill>
                            <a:schemeClr val="tx1"/>
                          </a:solidFill>
                        </a:rPr>
                        <a:t>Implementation of Code Link</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solidFill>
                            <a:schemeClr val="tx1"/>
                          </a:solidFill>
                        </a:rPr>
                        <a:t>https://github.com/harinis240040-byte/N-Knight-problem-solver-/blob/main/N-knightProblemSolver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96202207"/>
                  </a:ext>
                </a:extLst>
              </a:tr>
              <a:tr h="370840">
                <a:tc>
                  <a:txBody>
                    <a:bodyPr/>
                    <a:lstStyle/>
                    <a:p>
                      <a:r>
                        <a:rPr lang="en-GB" dirty="0">
                          <a:solidFill>
                            <a:schemeClr val="tx1"/>
                          </a:solidFill>
                        </a:rPr>
                        <a:t>Word Document Report Link</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solidFill>
                            <a:schemeClr val="tx1"/>
                          </a:solidFill>
                        </a:rPr>
                        <a:t>https://github.com/harinis240040-byte/N-Knight-problem-solver-/blob/main/AI_MINIPROJECT%5B1%5D.docx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51050083"/>
                  </a:ext>
                </a:extLst>
              </a:tr>
              <a:tr h="370840">
                <a:tc>
                  <a:txBody>
                    <a:bodyPr/>
                    <a:lstStyle/>
                    <a:p>
                      <a:r>
                        <a:rPr lang="en-GB" dirty="0">
                          <a:solidFill>
                            <a:schemeClr val="tx1"/>
                          </a:solidFill>
                        </a:rPr>
                        <a:t>PPT Link</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https://github.com/harinis240040-byte/N-Knight-problem-solver-/blob/main/AI</a:t>
                      </a:r>
                      <a:r>
                        <a:rPr lang="en-US">
                          <a:solidFill>
                            <a:schemeClr val="tx1"/>
                          </a:solidFill>
                        </a:rPr>
                        <a:t>_MINIPROJECT_PPT_HARINIS40.pptx</a:t>
                      </a:r>
                      <a:endParaRPr lang="en-US" dirty="0">
                        <a:solidFill>
                          <a:schemeClr val="tx1"/>
                        </a:solidFill>
                      </a:endParaRPr>
                    </a:p>
                    <a:p>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07241712"/>
                  </a:ext>
                </a:extLst>
              </a:tr>
            </a:tbl>
          </a:graphicData>
        </a:graphic>
      </p:graphicFrame>
    </p:spTree>
    <p:extLst>
      <p:ext uri="{BB962C8B-B14F-4D97-AF65-F5344CB8AC3E}">
        <p14:creationId xmlns:p14="http://schemas.microsoft.com/office/powerpoint/2010/main" val="5195863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55069-71B1-83F0-E5F5-B02F8F5772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358887-D4AD-6383-79D6-F528D34824D4}"/>
              </a:ext>
            </a:extLst>
          </p:cNvPr>
          <p:cNvSpPr>
            <a:spLocks noGrp="1"/>
          </p:cNvSpPr>
          <p:nvPr>
            <p:ph type="title"/>
          </p:nvPr>
        </p:nvSpPr>
        <p:spPr>
          <a:xfrm>
            <a:off x="0" y="365126"/>
            <a:ext cx="12192000" cy="645528"/>
          </a:xfrm>
        </p:spPr>
        <p:style>
          <a:lnRef idx="0">
            <a:schemeClr val="accent2"/>
          </a:lnRef>
          <a:fillRef idx="3">
            <a:schemeClr val="accent2"/>
          </a:fillRef>
          <a:effectRef idx="3">
            <a:schemeClr val="accent2"/>
          </a:effectRef>
          <a:fontRef idx="minor">
            <a:schemeClr val="lt1"/>
          </a:fontRef>
        </p:style>
        <p:txBody>
          <a:bodyPr>
            <a:normAutofit fontScale="90000"/>
          </a:bodyPr>
          <a:lstStyle/>
          <a:p>
            <a:pPr algn="ctr"/>
            <a:r>
              <a:rPr lang="en-GB" b="1" dirty="0">
                <a:solidFill>
                  <a:schemeClr val="tx1"/>
                </a:solidFill>
              </a:rPr>
              <a:t>OUTPUT AND RESULTS</a:t>
            </a:r>
            <a:endParaRPr lang="en-US" dirty="0">
              <a:solidFill>
                <a:schemeClr val="tx1"/>
              </a:solidFill>
            </a:endParaRPr>
          </a:p>
        </p:txBody>
      </p:sp>
      <p:sp>
        <p:nvSpPr>
          <p:cNvPr id="3" name="Content Placeholder 2">
            <a:extLst>
              <a:ext uri="{FF2B5EF4-FFF2-40B4-BE49-F238E27FC236}">
                <a16:creationId xmlns:a16="http://schemas.microsoft.com/office/drawing/2014/main" id="{CB511744-1841-7314-5231-7CC4C07DDED0}"/>
              </a:ext>
            </a:extLst>
          </p:cNvPr>
          <p:cNvSpPr>
            <a:spLocks noGrp="1"/>
          </p:cNvSpPr>
          <p:nvPr>
            <p:ph idx="1"/>
          </p:nvPr>
        </p:nvSpPr>
        <p:spPr>
          <a:xfrm>
            <a:off x="838200" y="1267326"/>
            <a:ext cx="10515600" cy="4909637"/>
          </a:xfrm>
        </p:spPr>
        <p:txBody>
          <a:bodyPr/>
          <a:lstStyle/>
          <a:p>
            <a:pPr marL="0" lvl="0" indent="0">
              <a:buNone/>
            </a:pPr>
            <a:r>
              <a:rPr lang="en-GB" sz="2400" b="1" u="sng" dirty="0"/>
              <a:t>OUPUT:</a:t>
            </a:r>
          </a:p>
          <a:p>
            <a:r>
              <a:rPr lang="en-US" sz="2000" dirty="0"/>
              <a:t>The program displays a chessboard matrix where each cell shows the move number of the knight.</a:t>
            </a:r>
          </a:p>
          <a:p>
            <a:r>
              <a:rPr lang="en-US" sz="2000" dirty="0"/>
              <a:t>The knight starts from the top-left corner (0,0) and visits every square exactly </a:t>
            </a:r>
            <a:r>
              <a:rPr lang="en-US" sz="2000" dirty="0" err="1"/>
              <a:t>once.The</a:t>
            </a:r>
            <a:r>
              <a:rPr lang="en-US" sz="2000" dirty="0"/>
              <a:t> numbers from 0 to n²–1 represent the sequence of the knight’s movement.</a:t>
            </a:r>
          </a:p>
          <a:p>
            <a:r>
              <a:rPr lang="en-US" sz="2000" dirty="0"/>
              <a:t>If no valid sequence is possible for the given board size, the program displays:👉 “No solution exists.”</a:t>
            </a:r>
            <a:endParaRPr lang="en-GB" sz="2000" dirty="0"/>
          </a:p>
          <a:p>
            <a:pPr marL="0" lvl="0" indent="0">
              <a:buNone/>
            </a:pPr>
            <a:r>
              <a:rPr lang="en-GB" sz="2400" dirty="0"/>
              <a:t>         </a:t>
            </a:r>
          </a:p>
        </p:txBody>
      </p:sp>
      <p:sp>
        <p:nvSpPr>
          <p:cNvPr id="4" name="Date Placeholder 3">
            <a:extLst>
              <a:ext uri="{FF2B5EF4-FFF2-40B4-BE49-F238E27FC236}">
                <a16:creationId xmlns:a16="http://schemas.microsoft.com/office/drawing/2014/main" id="{E47BACE5-322B-3F55-2CA9-8E1D4117021B}"/>
              </a:ext>
            </a:extLst>
          </p:cNvPr>
          <p:cNvSpPr>
            <a:spLocks noGrp="1"/>
          </p:cNvSpPr>
          <p:nvPr>
            <p:ph type="dt" sz="half" idx="10"/>
          </p:nvPr>
        </p:nvSpPr>
        <p:spPr/>
        <p:txBody>
          <a:bodyPr/>
          <a:lstStyle/>
          <a:p>
            <a:fld id="{C5480D13-07B8-4CF5-901F-BD1025D74351}" type="datetime1">
              <a:rPr lang="en-US" smtClean="0"/>
              <a:t>10/28/2025</a:t>
            </a:fld>
            <a:endParaRPr lang="en-US"/>
          </a:p>
        </p:txBody>
      </p:sp>
      <p:sp>
        <p:nvSpPr>
          <p:cNvPr id="5" name="Slide Number Placeholder 4">
            <a:extLst>
              <a:ext uri="{FF2B5EF4-FFF2-40B4-BE49-F238E27FC236}">
                <a16:creationId xmlns:a16="http://schemas.microsoft.com/office/drawing/2014/main" id="{A7D1AF6B-7EFE-60E0-2350-AE083D01AD8A}"/>
              </a:ext>
            </a:extLst>
          </p:cNvPr>
          <p:cNvSpPr>
            <a:spLocks noGrp="1"/>
          </p:cNvSpPr>
          <p:nvPr>
            <p:ph type="sldNum" sz="quarter" idx="12"/>
          </p:nvPr>
        </p:nvSpPr>
        <p:spPr/>
        <p:txBody>
          <a:bodyPr/>
          <a:lstStyle/>
          <a:p>
            <a:fld id="{1FCEF87E-815D-44D1-B0AB-39AF0402D6A8}" type="slidenum">
              <a:rPr lang="en-US" smtClean="0"/>
              <a:t>8</a:t>
            </a:fld>
            <a:endParaRPr lang="en-US"/>
          </a:p>
        </p:txBody>
      </p:sp>
      <p:pic>
        <p:nvPicPr>
          <p:cNvPr id="9" name="Picture 8" descr="A screen shot of a computer program&#10;&#10;AI-generated content may be incorrect.">
            <a:extLst>
              <a:ext uri="{FF2B5EF4-FFF2-40B4-BE49-F238E27FC236}">
                <a16:creationId xmlns:a16="http://schemas.microsoft.com/office/drawing/2014/main" id="{B79EC25B-465C-4FAF-A267-06FDFC4216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66606" y="3493760"/>
            <a:ext cx="5639587" cy="2353003"/>
          </a:xfrm>
          <a:prstGeom prst="rect">
            <a:avLst/>
          </a:prstGeom>
        </p:spPr>
      </p:pic>
    </p:spTree>
    <p:extLst>
      <p:ext uri="{BB962C8B-B14F-4D97-AF65-F5344CB8AC3E}">
        <p14:creationId xmlns:p14="http://schemas.microsoft.com/office/powerpoint/2010/main" val="28052695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D63ECA-B59E-8742-1165-9911D2A450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0B2EF6-B936-B9EB-24E4-C84A062402DD}"/>
              </a:ext>
            </a:extLst>
          </p:cNvPr>
          <p:cNvSpPr>
            <a:spLocks noGrp="1"/>
          </p:cNvSpPr>
          <p:nvPr>
            <p:ph type="title"/>
          </p:nvPr>
        </p:nvSpPr>
        <p:spPr>
          <a:xfrm>
            <a:off x="0" y="365126"/>
            <a:ext cx="12192000" cy="645528"/>
          </a:xfrm>
        </p:spPr>
        <p:style>
          <a:lnRef idx="0">
            <a:schemeClr val="accent2"/>
          </a:lnRef>
          <a:fillRef idx="3">
            <a:schemeClr val="accent2"/>
          </a:fillRef>
          <a:effectRef idx="3">
            <a:schemeClr val="accent2"/>
          </a:effectRef>
          <a:fontRef idx="minor">
            <a:schemeClr val="lt1"/>
          </a:fontRef>
        </p:style>
        <p:txBody>
          <a:bodyPr>
            <a:normAutofit fontScale="90000"/>
          </a:bodyPr>
          <a:lstStyle/>
          <a:p>
            <a:pPr algn="ctr"/>
            <a:r>
              <a:rPr lang="en-GB" b="1" dirty="0">
                <a:solidFill>
                  <a:schemeClr val="tx1"/>
                </a:solidFill>
              </a:rPr>
              <a:t>OUTPUT AND RESULTS</a:t>
            </a:r>
            <a:endParaRPr lang="en-US" dirty="0">
              <a:solidFill>
                <a:schemeClr val="tx1"/>
              </a:solidFill>
            </a:endParaRPr>
          </a:p>
        </p:txBody>
      </p:sp>
      <p:sp>
        <p:nvSpPr>
          <p:cNvPr id="3" name="Content Placeholder 2">
            <a:extLst>
              <a:ext uri="{FF2B5EF4-FFF2-40B4-BE49-F238E27FC236}">
                <a16:creationId xmlns:a16="http://schemas.microsoft.com/office/drawing/2014/main" id="{4B9409AF-1BD6-CFDC-B172-AD3D38536AC2}"/>
              </a:ext>
            </a:extLst>
          </p:cNvPr>
          <p:cNvSpPr>
            <a:spLocks noGrp="1"/>
          </p:cNvSpPr>
          <p:nvPr>
            <p:ph idx="1"/>
          </p:nvPr>
        </p:nvSpPr>
        <p:spPr>
          <a:xfrm>
            <a:off x="838199" y="1267326"/>
            <a:ext cx="11031583" cy="4909637"/>
          </a:xfrm>
        </p:spPr>
        <p:txBody>
          <a:bodyPr>
            <a:normAutofit fontScale="70000" lnSpcReduction="20000"/>
          </a:bodyPr>
          <a:lstStyle/>
          <a:p>
            <a:pPr marL="0" lvl="0" indent="0">
              <a:buNone/>
            </a:pPr>
            <a:r>
              <a:rPr lang="en-US" sz="3200" b="1" dirty="0"/>
              <a:t>RESULT:</a:t>
            </a:r>
          </a:p>
          <a:p>
            <a:r>
              <a:rPr lang="en-US" dirty="0"/>
              <a:t>The Backtracking algorithm successfully solved the Knight’s Tour problem for various board sizes (e.g., 5×5, 6×6).</a:t>
            </a:r>
          </a:p>
          <a:p>
            <a:r>
              <a:rPr lang="en-US" dirty="0"/>
              <a:t>Demonstrates the power of AI search techniques in solving constraint-based puzzles.</a:t>
            </a:r>
          </a:p>
          <a:p>
            <a:r>
              <a:rPr lang="en-US" dirty="0"/>
              <a:t>Validates the use of recursive backtracking for exploring large solution spaces efficiently.</a:t>
            </a:r>
          </a:p>
          <a:p>
            <a:r>
              <a:rPr lang="en-US" dirty="0"/>
              <a:t>Strengthened understanding of AI concepts such as state-space representation, recursion, and depth-first search.</a:t>
            </a:r>
          </a:p>
          <a:p>
            <a:pPr marL="0" lvl="0" indent="0">
              <a:buNone/>
            </a:pPr>
            <a:r>
              <a:rPr lang="en-US" sz="3200" b="1" dirty="0"/>
              <a:t>FUTURE ENHANCEMENTS:</a:t>
            </a:r>
          </a:p>
          <a:p>
            <a:r>
              <a:rPr lang="en-US" dirty="0"/>
              <a:t>Implement </a:t>
            </a:r>
            <a:r>
              <a:rPr lang="en-US" dirty="0" err="1"/>
              <a:t>Warnsdorff’s</a:t>
            </a:r>
            <a:r>
              <a:rPr lang="en-US" dirty="0"/>
              <a:t> Heuristic to minimize the number of recursive calls and speed up execution.</a:t>
            </a:r>
          </a:p>
          <a:p>
            <a:r>
              <a:rPr lang="en-US" dirty="0"/>
              <a:t>Add a Graphical User Interface (GUI) using </a:t>
            </a:r>
            <a:r>
              <a:rPr lang="en-US" dirty="0" err="1"/>
              <a:t>Tkinter</a:t>
            </a:r>
            <a:r>
              <a:rPr lang="en-US" dirty="0"/>
              <a:t> or </a:t>
            </a:r>
            <a:r>
              <a:rPr lang="en-US" dirty="0" err="1"/>
              <a:t>Pygame</a:t>
            </a:r>
            <a:r>
              <a:rPr lang="en-US" dirty="0"/>
              <a:t> for move visualization.</a:t>
            </a:r>
          </a:p>
          <a:p>
            <a:r>
              <a:rPr lang="en-US" dirty="0"/>
              <a:t>Extend the program to handle larger boards (8×8 or higher) efficiently.</a:t>
            </a:r>
          </a:p>
          <a:p>
            <a:r>
              <a:rPr lang="en-US" dirty="0"/>
              <a:t>Integrate AI optimization techniques (like Genetic Algorithm or Simulated Annealing).</a:t>
            </a:r>
          </a:p>
          <a:p>
            <a:r>
              <a:rPr lang="en-US" dirty="0"/>
              <a:t>Create a real-time animation or interactive learning tool for educational use.                                                                                                                      </a:t>
            </a:r>
          </a:p>
          <a:p>
            <a:pPr marL="0" lvl="0" indent="0">
              <a:buNone/>
            </a:pPr>
            <a:endParaRPr lang="en-US" dirty="0"/>
          </a:p>
          <a:p>
            <a:pPr marL="0" lvl="0" indent="0">
              <a:buNone/>
            </a:pPr>
            <a:r>
              <a:rPr lang="en-US" dirty="0"/>
              <a:t>                                                           </a:t>
            </a:r>
          </a:p>
        </p:txBody>
      </p:sp>
      <p:sp>
        <p:nvSpPr>
          <p:cNvPr id="4" name="Date Placeholder 3">
            <a:extLst>
              <a:ext uri="{FF2B5EF4-FFF2-40B4-BE49-F238E27FC236}">
                <a16:creationId xmlns:a16="http://schemas.microsoft.com/office/drawing/2014/main" id="{04773938-5370-329C-27AB-D82ECB9D7128}"/>
              </a:ext>
            </a:extLst>
          </p:cNvPr>
          <p:cNvSpPr>
            <a:spLocks noGrp="1"/>
          </p:cNvSpPr>
          <p:nvPr>
            <p:ph type="dt" sz="half" idx="10"/>
          </p:nvPr>
        </p:nvSpPr>
        <p:spPr/>
        <p:txBody>
          <a:bodyPr/>
          <a:lstStyle/>
          <a:p>
            <a:fld id="{C5480D13-07B8-4CF5-901F-BD1025D74351}" type="datetime1">
              <a:rPr lang="en-US" smtClean="0"/>
              <a:t>10/28/2025</a:t>
            </a:fld>
            <a:endParaRPr lang="en-US"/>
          </a:p>
        </p:txBody>
      </p:sp>
      <p:sp>
        <p:nvSpPr>
          <p:cNvPr id="5" name="Slide Number Placeholder 4">
            <a:extLst>
              <a:ext uri="{FF2B5EF4-FFF2-40B4-BE49-F238E27FC236}">
                <a16:creationId xmlns:a16="http://schemas.microsoft.com/office/drawing/2014/main" id="{E8A83B3C-8735-B8FC-8D50-B919B3471343}"/>
              </a:ext>
            </a:extLst>
          </p:cNvPr>
          <p:cNvSpPr>
            <a:spLocks noGrp="1"/>
          </p:cNvSpPr>
          <p:nvPr>
            <p:ph type="sldNum" sz="quarter" idx="12"/>
          </p:nvPr>
        </p:nvSpPr>
        <p:spPr/>
        <p:txBody>
          <a:bodyPr/>
          <a:lstStyle/>
          <a:p>
            <a:fld id="{1FCEF87E-815D-44D1-B0AB-39AF0402D6A8}" type="slidenum">
              <a:rPr lang="en-US" smtClean="0"/>
              <a:t>9</a:t>
            </a:fld>
            <a:endParaRPr lang="en-US"/>
          </a:p>
        </p:txBody>
      </p:sp>
    </p:spTree>
    <p:extLst>
      <p:ext uri="{BB962C8B-B14F-4D97-AF65-F5344CB8AC3E}">
        <p14:creationId xmlns:p14="http://schemas.microsoft.com/office/powerpoint/2010/main" val="12633635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DEA9EE-5679-A557-E7BF-0A904D0977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BF6077-2697-7116-5A2C-99B8054B7FE2}"/>
              </a:ext>
            </a:extLst>
          </p:cNvPr>
          <p:cNvSpPr>
            <a:spLocks noGrp="1"/>
          </p:cNvSpPr>
          <p:nvPr>
            <p:ph type="title"/>
          </p:nvPr>
        </p:nvSpPr>
        <p:spPr>
          <a:xfrm>
            <a:off x="0" y="365126"/>
            <a:ext cx="12192000" cy="645528"/>
          </a:xfrm>
        </p:spPr>
        <p:style>
          <a:lnRef idx="0">
            <a:schemeClr val="accent2"/>
          </a:lnRef>
          <a:fillRef idx="3">
            <a:schemeClr val="accent2"/>
          </a:fillRef>
          <a:effectRef idx="3">
            <a:schemeClr val="accent2"/>
          </a:effectRef>
          <a:fontRef idx="minor">
            <a:schemeClr val="lt1"/>
          </a:fontRef>
        </p:style>
        <p:txBody>
          <a:bodyPr>
            <a:normAutofit fontScale="90000"/>
          </a:bodyPr>
          <a:lstStyle/>
          <a:p>
            <a:pPr algn="ctr"/>
            <a:r>
              <a:rPr lang="en-GB" b="1" dirty="0">
                <a:solidFill>
                  <a:schemeClr val="tx1"/>
                </a:solidFill>
              </a:rPr>
              <a:t>REFERENCES</a:t>
            </a:r>
            <a:endParaRPr lang="en-US" dirty="0">
              <a:solidFill>
                <a:schemeClr val="tx1"/>
              </a:solidFill>
            </a:endParaRPr>
          </a:p>
        </p:txBody>
      </p:sp>
      <p:sp>
        <p:nvSpPr>
          <p:cNvPr id="3" name="Content Placeholder 2">
            <a:extLst>
              <a:ext uri="{FF2B5EF4-FFF2-40B4-BE49-F238E27FC236}">
                <a16:creationId xmlns:a16="http://schemas.microsoft.com/office/drawing/2014/main" id="{D3AB1971-AF7F-80EE-26ED-EA8A7E8C7C21}"/>
              </a:ext>
            </a:extLst>
          </p:cNvPr>
          <p:cNvSpPr>
            <a:spLocks noGrp="1"/>
          </p:cNvSpPr>
          <p:nvPr>
            <p:ph idx="1"/>
          </p:nvPr>
        </p:nvSpPr>
        <p:spPr>
          <a:xfrm>
            <a:off x="838200" y="1267326"/>
            <a:ext cx="10515600" cy="4909637"/>
          </a:xfrm>
        </p:spPr>
        <p:txBody>
          <a:bodyPr/>
          <a:lstStyle/>
          <a:p>
            <a:pPr lvl="0"/>
            <a:r>
              <a:rPr lang="en-IN" dirty="0"/>
              <a:t>Artificial Intelligence: A Modern Approach – Stuart Russell &amp; Peter Norvig.</a:t>
            </a:r>
          </a:p>
          <a:p>
            <a:pPr lvl="0"/>
            <a:r>
              <a:rPr lang="en-IN" dirty="0" err="1"/>
              <a:t>GeeksforGeeks</a:t>
            </a:r>
            <a:r>
              <a:rPr lang="en-IN" dirty="0"/>
              <a:t> – </a:t>
            </a:r>
            <a:r>
              <a:rPr lang="en-IN" i="1" dirty="0"/>
              <a:t>Knight’s Tour Problem using Backtracking</a:t>
            </a:r>
            <a:r>
              <a:rPr lang="en-IN" dirty="0"/>
              <a:t> (https://www.geeksforgeeks.org)</a:t>
            </a:r>
          </a:p>
          <a:p>
            <a:pPr lvl="0"/>
            <a:r>
              <a:rPr lang="en-IN" dirty="0" err="1"/>
              <a:t>TutorialsPoint</a:t>
            </a:r>
            <a:r>
              <a:rPr lang="en-IN" dirty="0"/>
              <a:t> – </a:t>
            </a:r>
            <a:r>
              <a:rPr lang="en-IN" i="1" dirty="0"/>
              <a:t>Backtracking Algorithms in Python</a:t>
            </a:r>
            <a:endParaRPr lang="en-IN" dirty="0"/>
          </a:p>
          <a:p>
            <a:pPr lvl="0"/>
            <a:r>
              <a:rPr lang="en-IN" dirty="0" err="1"/>
              <a:t>Programiz</a:t>
            </a:r>
            <a:r>
              <a:rPr lang="en-IN" dirty="0"/>
              <a:t> – </a:t>
            </a:r>
            <a:r>
              <a:rPr lang="en-IN" i="1" dirty="0"/>
              <a:t>Recursion and Backtracking in Python</a:t>
            </a:r>
            <a:endParaRPr lang="en-IN" dirty="0"/>
          </a:p>
          <a:p>
            <a:pPr lvl="0"/>
            <a:r>
              <a:rPr lang="en-IN" dirty="0"/>
              <a:t>YouTube: “Knight’s Tour Problem Explained” – Jenny’s Lectures CS/IT</a:t>
            </a:r>
          </a:p>
          <a:p>
            <a:pPr marL="0" lvl="0" indent="0">
              <a:buNone/>
            </a:pPr>
            <a:endParaRPr lang="en-US" dirty="0"/>
          </a:p>
        </p:txBody>
      </p:sp>
      <p:sp>
        <p:nvSpPr>
          <p:cNvPr id="4" name="Date Placeholder 3">
            <a:extLst>
              <a:ext uri="{FF2B5EF4-FFF2-40B4-BE49-F238E27FC236}">
                <a16:creationId xmlns:a16="http://schemas.microsoft.com/office/drawing/2014/main" id="{418721BC-42E2-4822-3086-5AF81F1A3726}"/>
              </a:ext>
            </a:extLst>
          </p:cNvPr>
          <p:cNvSpPr>
            <a:spLocks noGrp="1"/>
          </p:cNvSpPr>
          <p:nvPr>
            <p:ph type="dt" sz="half" idx="10"/>
          </p:nvPr>
        </p:nvSpPr>
        <p:spPr/>
        <p:txBody>
          <a:bodyPr/>
          <a:lstStyle/>
          <a:p>
            <a:fld id="{C5480D13-07B8-4CF5-901F-BD1025D74351}" type="datetime1">
              <a:rPr lang="en-US" smtClean="0"/>
              <a:t>10/28/2025</a:t>
            </a:fld>
            <a:endParaRPr lang="en-US"/>
          </a:p>
        </p:txBody>
      </p:sp>
      <p:sp>
        <p:nvSpPr>
          <p:cNvPr id="5" name="Slide Number Placeholder 4">
            <a:extLst>
              <a:ext uri="{FF2B5EF4-FFF2-40B4-BE49-F238E27FC236}">
                <a16:creationId xmlns:a16="http://schemas.microsoft.com/office/drawing/2014/main" id="{60D8BC28-15FA-0C88-32FB-88458DEBBC23}"/>
              </a:ext>
            </a:extLst>
          </p:cNvPr>
          <p:cNvSpPr>
            <a:spLocks noGrp="1"/>
          </p:cNvSpPr>
          <p:nvPr>
            <p:ph type="sldNum" sz="quarter" idx="12"/>
          </p:nvPr>
        </p:nvSpPr>
        <p:spPr/>
        <p:txBody>
          <a:bodyPr/>
          <a:lstStyle/>
          <a:p>
            <a:fld id="{1FCEF87E-815D-44D1-B0AB-39AF0402D6A8}" type="slidenum">
              <a:rPr lang="en-US" smtClean="0"/>
              <a:t>10</a:t>
            </a:fld>
            <a:endParaRPr lang="en-US"/>
          </a:p>
        </p:txBody>
      </p:sp>
    </p:spTree>
    <p:extLst>
      <p:ext uri="{BB962C8B-B14F-4D97-AF65-F5344CB8AC3E}">
        <p14:creationId xmlns:p14="http://schemas.microsoft.com/office/powerpoint/2010/main" val="7526071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68</TotalTime>
  <Words>1056</Words>
  <Application>Microsoft Office PowerPoint</Application>
  <PresentationFormat>Widescreen</PresentationFormat>
  <Paragraphs>97</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Calibri Light</vt:lpstr>
      <vt:lpstr>Times New Roman</vt:lpstr>
      <vt:lpstr>Office Theme</vt:lpstr>
      <vt:lpstr>DEPARTMENT OF CSE (ARTIFICIAL INTELLIGENCE AND MACHINE LEARNING) ACADEMIC YEAR 2025 - 2026 SEMESTER III ARTIFICIAL INTELLIGENCE LABORATORY  MINI PROJECT REVIEW   N-KNIGHT’S TOUR PROBLEM</vt:lpstr>
      <vt:lpstr>PROBLEM STATEMENT</vt:lpstr>
      <vt:lpstr>THEORETICAL BACKGROUND</vt:lpstr>
      <vt:lpstr>                       LITERATURE SURVEY</vt:lpstr>
      <vt:lpstr>          JUSTIFICATION FOR CHOOSING BACKTRACKING   </vt:lpstr>
      <vt:lpstr>ALGORITHM EXPLANATION</vt:lpstr>
      <vt:lpstr>IMPLEMENTATION AND CODE</vt:lpstr>
      <vt:lpstr>OUTPUT AND RESULTS</vt:lpstr>
      <vt:lpstr>OUTPUT AND RESULTS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SANKAR GANESH K</dc:creator>
  <cp:lastModifiedBy>Harini S</cp:lastModifiedBy>
  <cp:revision>7</cp:revision>
  <dcterms:created xsi:type="dcterms:W3CDTF">2025-10-18T08:57:34Z</dcterms:created>
  <dcterms:modified xsi:type="dcterms:W3CDTF">2025-10-28T00:25:25Z</dcterms:modified>
</cp:coreProperties>
</file>