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4" r:id="rId5"/>
    <p:sldId id="265" r:id="rId6"/>
    <p:sldId id="258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INTELLIGENCE 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N-KNIGHT’S TOUR PROBLEM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257273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2117240030040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S.HARINI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11/4/2025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8681"/>
            <a:ext cx="10515600" cy="2780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Knight’s Tour is a classic AI problem where a knight moves on a chessboard and must visit every square exactly once. The project aims to create a Python program that uses the </a:t>
            </a:r>
            <a:r>
              <a:rPr lang="en-US" b="1" dirty="0"/>
              <a:t>backtracking algorithm</a:t>
            </a:r>
            <a:r>
              <a:rPr lang="en-US" dirty="0"/>
              <a:t> to find a valid sequence of moves. The algorithm tries all possible moves, checks if they are valid, and backtracks when a move doesn’t lead to a solution. This project shows how </a:t>
            </a:r>
            <a:r>
              <a:rPr lang="en-US" b="1" dirty="0"/>
              <a:t>AI search techniques</a:t>
            </a:r>
            <a:r>
              <a:rPr lang="en-US" dirty="0"/>
              <a:t> like backtracking can solve complex problems efficiently.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Knight’s Tour is a classic AI and combinatorial problem where a knight moves on a chessboard and visits every square exactly once. It is a </a:t>
            </a:r>
            <a:r>
              <a:rPr lang="en-US" b="1" dirty="0"/>
              <a:t>constraint satisfaction problem</a:t>
            </a:r>
            <a:r>
              <a:rPr lang="en-US" dirty="0"/>
              <a:t> usually solved using </a:t>
            </a:r>
            <a:r>
              <a:rPr lang="en-US" b="1" dirty="0"/>
              <a:t>backtracking</a:t>
            </a:r>
            <a:r>
              <a:rPr lang="en-US" dirty="0"/>
              <a:t> or </a:t>
            </a:r>
            <a:r>
              <a:rPr lang="en-US" b="1" dirty="0"/>
              <a:t>heuristic search</a:t>
            </a:r>
            <a:r>
              <a:rPr lang="en-US" dirty="0"/>
              <a:t> methods.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Backtracking Algorithm: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dirty="0"/>
              <a:t>Backtracking is a </a:t>
            </a:r>
            <a:r>
              <a:rPr lang="en-US" b="1" dirty="0"/>
              <a:t>depth-first search (DFS)</a:t>
            </a:r>
            <a:r>
              <a:rPr lang="en-US" dirty="0"/>
              <a:t> method that explores all possible paths and backtracks when a move fails. It is used in problems like </a:t>
            </a:r>
            <a:r>
              <a:rPr lang="en-US" b="1" dirty="0"/>
              <a:t>N-Queens</a:t>
            </a:r>
            <a:r>
              <a:rPr lang="en-US" dirty="0"/>
              <a:t>, </a:t>
            </a:r>
            <a:r>
              <a:rPr lang="en-US" b="1" dirty="0"/>
              <a:t>Sudoku</a:t>
            </a:r>
            <a:r>
              <a:rPr lang="en-US" dirty="0"/>
              <a:t>, </a:t>
            </a:r>
            <a:r>
              <a:rPr lang="en-US" b="1" dirty="0"/>
              <a:t>Maze solving</a:t>
            </a:r>
            <a:r>
              <a:rPr lang="en-US" dirty="0"/>
              <a:t>, and the </a:t>
            </a:r>
            <a:r>
              <a:rPr lang="en-US" b="1" dirty="0"/>
              <a:t>Knight’s Tour</a:t>
            </a:r>
            <a:r>
              <a:rPr lang="en-US" dirty="0"/>
              <a:t>. In this problem, the knight tries all valid moves; if a move leads to a dead end, it returns to the previous step until all squares are visited.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B9823B8-AE16-BDC9-F301-C42B5F004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C8A73-96A4-91D8-9F0B-8F7C798BB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136525"/>
            <a:ext cx="10515600" cy="71860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dirty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ysClr val="windowText" lastClr="000000"/>
                </a:solidFill>
              </a:rPr>
              <a:t>          </a:t>
            </a:r>
            <a:r>
              <a:rPr lang="en-IN" sz="3100" b="1" dirty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JUSTIFICATION FOR CHOOSING BACKTRACKING</a:t>
            </a:r>
            <a:r>
              <a:rPr lang="en-IN" sz="3100" dirty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ysClr val="windowText" lastClr="000000"/>
                </a:solidFill>
              </a:rPr>
              <a:t>   </a:t>
            </a:r>
            <a:endParaRPr lang="en-IN" sz="3100" b="1" dirty="0">
              <a:ln>
                <a:solidFill>
                  <a:schemeClr val="accent2">
                    <a:lumMod val="75000"/>
                  </a:schemeClr>
                </a:solidFill>
              </a:ln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6CE6F-D51B-1969-FCA2-F45E570C0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2895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Backtracking algorithm is chosen because:</a:t>
            </a:r>
          </a:p>
          <a:p>
            <a:pPr marL="514350" indent="-514350">
              <a:buAutoNum type="arabicPeriod"/>
            </a:pPr>
            <a:r>
              <a:rPr lang="en-US" dirty="0"/>
              <a:t>It is simple and easy to implement for understanding AI search problems.</a:t>
            </a:r>
          </a:p>
          <a:p>
            <a:pPr marL="514350" indent="-514350">
              <a:buAutoNum type="arabicPeriod"/>
            </a:pPr>
            <a:r>
              <a:rPr lang="en-US" dirty="0"/>
              <a:t>It guarantees finding a valid tour if one exists (complete search).</a:t>
            </a:r>
          </a:p>
          <a:p>
            <a:pPr marL="514350" indent="-514350">
              <a:buAutoNum type="arabicPeriod"/>
            </a:pPr>
            <a:r>
              <a:rPr lang="en-US" dirty="0"/>
              <a:t>It clearly demonstrates recursion, state-space exploration, and decision-making in AI.</a:t>
            </a:r>
          </a:p>
          <a:p>
            <a:pPr marL="514350" indent="-514350">
              <a:buAutoNum type="arabicPeriod"/>
            </a:pPr>
            <a:r>
              <a:rPr lang="en-US" dirty="0"/>
              <a:t>It provides a foundational understanding before moving on to heuristic or optimization-based methods.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78CEE-6CE4-3D57-6797-3FE8B17C6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FEE1D-8D7B-4309-9EC8-AB5EFD649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64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E6490E8-424A-77B2-F827-61875C04C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IN" sz="4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ALGORITHM EXPLANATION</a:t>
            </a:r>
            <a:endParaRPr lang="en-IN" sz="4000" b="1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49E4185-7501-36A6-6314-142D9FA5C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00"/>
            <a:ext cx="10515600" cy="48307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u="sng" dirty="0"/>
              <a:t>Algorithm Steps:</a:t>
            </a:r>
          </a:p>
          <a:p>
            <a:pPr marL="514350" indent="-514350">
              <a:buAutoNum type="arabicPeriod"/>
            </a:pPr>
            <a:r>
              <a:rPr lang="en-US" dirty="0"/>
              <a:t>Start from the any square (position) and mark it as visited.</a:t>
            </a:r>
          </a:p>
          <a:p>
            <a:pPr marL="514350" indent="-514350">
              <a:buAutoNum type="arabicPeriod"/>
            </a:pPr>
            <a:r>
              <a:rPr lang="en-US" dirty="0"/>
              <a:t>Try all 8 possible knight moves from the current position.</a:t>
            </a:r>
          </a:p>
          <a:p>
            <a:pPr marL="514350" indent="-514350">
              <a:buAutoNum type="arabicPeriod"/>
            </a:pPr>
            <a:r>
              <a:rPr lang="en-US" dirty="0"/>
              <a:t>For each move, check if the next square is inside the board and unvisited.</a:t>
            </a:r>
          </a:p>
          <a:p>
            <a:pPr marL="514350" indent="-514350">
              <a:buAutoNum type="arabicPeriod"/>
            </a:pPr>
            <a:r>
              <a:rPr lang="en-US" dirty="0"/>
              <a:t>If valid, mark it and recursively continue to the next step.</a:t>
            </a:r>
          </a:p>
          <a:p>
            <a:pPr marL="514350" indent="-514350">
              <a:buAutoNum type="arabicPeriod"/>
            </a:pPr>
            <a:r>
              <a:rPr lang="en-US" dirty="0"/>
              <a:t>If a dead end is reached, backtrack by unmarking the square and try another path.</a:t>
            </a:r>
          </a:p>
          <a:p>
            <a:pPr marL="514350" indent="-514350">
              <a:buAutoNum type="arabicPeriod"/>
            </a:pPr>
            <a:r>
              <a:rPr lang="en-US" dirty="0"/>
              <a:t>Continue until all squares are visited or no valid path remains.</a:t>
            </a:r>
          </a:p>
          <a:p>
            <a:pPr marL="0" indent="0">
              <a:buNone/>
            </a:pPr>
            <a:r>
              <a:rPr lang="en-US" u="sng" dirty="0"/>
              <a:t>Example (5×5 Board):</a:t>
            </a:r>
          </a:p>
          <a:p>
            <a:pPr marL="0" indent="0">
              <a:buNone/>
            </a:pPr>
            <a:r>
              <a:rPr lang="en-US" dirty="0"/>
              <a:t>The knight starts at (0,0).Moves to (2,1), (4,2), and so on, following the recursive </a:t>
            </a:r>
            <a:r>
              <a:rPr lang="en-US" dirty="0" err="1"/>
              <a:t>pattern.Once</a:t>
            </a:r>
            <a:r>
              <a:rPr lang="en-US" dirty="0"/>
              <a:t> all 25 cells are filled with unique move numbers, the tour is </a:t>
            </a:r>
            <a:r>
              <a:rPr lang="en-US" dirty="0" err="1"/>
              <a:t>complete.If</a:t>
            </a:r>
            <a:r>
              <a:rPr lang="en-US" dirty="0"/>
              <a:t> no solution exists, the algorithm displays “No solution exists”.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4456A-BCCF-78D0-EA9A-26DE627F2A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A9C543-C1A5-4BB5-A80B-9531F5C51CEB}" type="datetime1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472E8-5C14-96DF-E151-1E6242BAA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FCEF87E-815D-44D1-B0AB-39AF0402D6A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44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8596389"/>
              </p:ext>
            </p:extLst>
          </p:nvPr>
        </p:nvGraphicFramePr>
        <p:xfrm>
          <a:off x="1854200" y="2205222"/>
          <a:ext cx="8128000" cy="3931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894667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233333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https://github.com/harinis240040-byte/N-Knight-problem-solver-/blob/main/N-knightProblemSolver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https://github.com/harinis240040-byte/N-Knight-problem-solver-/blob/main/AI_MINIPROJECT%5B1%5D.docx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https://github.com/harinis240040-byte/N-Knight-problem-solver-/blob/main/AI_MINIPROJECT_PPT_HARINIS40.pptx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511744-1841-7314-5231-7CC4C07DDE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67326"/>
                <a:ext cx="10515600" cy="4909637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GB" sz="2400" b="1" u="sng" dirty="0"/>
                  <a:t>OUPUT:</a:t>
                </a:r>
              </a:p>
              <a:p>
                <a:pPr marL="0" lvl="0" indent="0">
                  <a:buNone/>
                </a:pPr>
                <a:r>
                  <a:rPr lang="en-IN" sz="2400" dirty="0"/>
                  <a:t>The program prints the chessboard as a matrix where each cell shows the knight’s move number. The knight starts at (0,0) and the numbers 0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N" sz="2400" dirty="0"/>
                  <a:t>show the move order as it visits every square once. If no tour is possible, it prints: </a:t>
                </a:r>
                <a:r>
                  <a:rPr lang="en-IN" sz="2400" b="1" dirty="0"/>
                  <a:t>“No solution exists.”</a:t>
                </a:r>
                <a:r>
                  <a:rPr lang="en-GB" sz="2400" dirty="0"/>
                  <a:t>       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511744-1841-7314-5231-7CC4C07DDE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67326"/>
                <a:ext cx="10515600" cy="4909637"/>
              </a:xfrm>
              <a:blipFill>
                <a:blip r:embed="rId2"/>
                <a:stretch>
                  <a:fillRect l="-928" t="-17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 descr="A screenshot of a game&#10;&#10;AI-generated content may be incorrect.">
            <a:extLst>
              <a:ext uri="{FF2B5EF4-FFF2-40B4-BE49-F238E27FC236}">
                <a16:creationId xmlns:a16="http://schemas.microsoft.com/office/drawing/2014/main" id="{E15C8018-44E2-C884-7406-B5B008C28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281363"/>
            <a:ext cx="5207000" cy="2895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6E0E42-4005-050D-C935-F885931614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281363"/>
            <a:ext cx="5395659" cy="28956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683"/>
            <a:ext cx="11031583" cy="4909637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lang="en-US" sz="3200" b="1" dirty="0"/>
              <a:t>RESULT:</a:t>
            </a:r>
          </a:p>
          <a:p>
            <a:pPr marL="0" lvl="0" indent="0">
              <a:buNone/>
            </a:pPr>
            <a:r>
              <a:rPr lang="en-US" sz="3200" dirty="0"/>
              <a:t>The backtracking algorithm solved the Knight’s Tour for several board sizes (e.g., 5×5, 6×6), showing how AI search methods can handle constraint puzzles. The project confirmed that recursive backtracking effectively explores state spaces and reinforced concepts like recursion and depth-first search.</a:t>
            </a:r>
          </a:p>
          <a:p>
            <a:pPr marL="0" lvl="0" indent="0">
              <a:buNone/>
            </a:pPr>
            <a:r>
              <a:rPr lang="en-US" sz="3200" b="1" dirty="0"/>
              <a:t>FUTURE ENHANCEMENTS:</a:t>
            </a:r>
          </a:p>
          <a:p>
            <a:r>
              <a:rPr lang="en-US" sz="3200" dirty="0"/>
              <a:t>Apply </a:t>
            </a:r>
            <a:r>
              <a:rPr lang="en-US" sz="3200" b="1" dirty="0" err="1"/>
              <a:t>Warnsdorff’s</a:t>
            </a:r>
            <a:r>
              <a:rPr lang="en-US" sz="3200" b="1" dirty="0"/>
              <a:t> heuristic</a:t>
            </a:r>
            <a:r>
              <a:rPr lang="en-US" sz="3200" dirty="0"/>
              <a:t> to cut recursive calls and speed up search.</a:t>
            </a:r>
          </a:p>
          <a:p>
            <a:r>
              <a:rPr lang="en-US" sz="3200" dirty="0"/>
              <a:t>Add a </a:t>
            </a:r>
            <a:r>
              <a:rPr lang="en-US" sz="3200" b="1" dirty="0"/>
              <a:t>GUI</a:t>
            </a:r>
            <a:r>
              <a:rPr lang="en-US" sz="3200" dirty="0"/>
              <a:t> (</a:t>
            </a:r>
            <a:r>
              <a:rPr lang="en-US" sz="3200" dirty="0" err="1"/>
              <a:t>Tkinter</a:t>
            </a:r>
            <a:r>
              <a:rPr lang="en-US" sz="3200" dirty="0"/>
              <a:t> or </a:t>
            </a:r>
            <a:r>
              <a:rPr lang="en-US" sz="3200" dirty="0" err="1"/>
              <a:t>Pygame</a:t>
            </a:r>
            <a:r>
              <a:rPr lang="en-US" sz="3200" dirty="0"/>
              <a:t>) to visualize moves.</a:t>
            </a:r>
          </a:p>
          <a:p>
            <a:r>
              <a:rPr lang="en-US" sz="3200" dirty="0"/>
              <a:t>Optimize for larger boards (8×8+) for better performance.</a:t>
            </a:r>
          </a:p>
          <a:p>
            <a:r>
              <a:rPr lang="en-US" sz="3200" dirty="0"/>
              <a:t>Explore </a:t>
            </a:r>
            <a:r>
              <a:rPr lang="en-US" sz="3200" b="1" dirty="0"/>
              <a:t>AI optimizers</a:t>
            </a:r>
            <a:r>
              <a:rPr lang="en-US" sz="3200" dirty="0"/>
              <a:t> (Genetic Algorithms, Simulated Annealing).</a:t>
            </a:r>
          </a:p>
          <a:p>
            <a:r>
              <a:rPr lang="en-US" sz="3200" dirty="0"/>
              <a:t>Build a </a:t>
            </a:r>
            <a:r>
              <a:rPr lang="en-US" sz="3200" b="1" dirty="0"/>
              <a:t>real-time animated/interactive</a:t>
            </a:r>
            <a:r>
              <a:rPr lang="en-US" sz="3200" dirty="0"/>
              <a:t> learning tool.</a:t>
            </a:r>
          </a:p>
          <a:p>
            <a:pPr marL="0" lvl="0" indent="0">
              <a:buNone/>
            </a:pPr>
            <a:endParaRPr lang="en-US" sz="3200" b="1" dirty="0"/>
          </a:p>
          <a:p>
            <a:pPr marL="0" lvl="0" indent="0">
              <a:buNone/>
            </a:pPr>
            <a:r>
              <a:rPr lang="en-US" dirty="0"/>
              <a:t>                                             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pPr lvl="0"/>
            <a:r>
              <a:rPr lang="en-IN" dirty="0"/>
              <a:t>Artificial Intelligence: A Modern Approach – Stuart Russell &amp; Peter Norvig.</a:t>
            </a:r>
          </a:p>
          <a:p>
            <a:pPr lvl="0"/>
            <a:r>
              <a:rPr lang="en-IN" dirty="0" err="1"/>
              <a:t>GeeksforGeeks</a:t>
            </a:r>
            <a:r>
              <a:rPr lang="en-IN" dirty="0"/>
              <a:t> – </a:t>
            </a:r>
            <a:r>
              <a:rPr lang="en-IN" i="1" dirty="0"/>
              <a:t>Knight’s Tour Problem using Backtracking</a:t>
            </a:r>
            <a:r>
              <a:rPr lang="en-IN" dirty="0"/>
              <a:t> (https://www.geeksforgeeks.org)</a:t>
            </a:r>
          </a:p>
          <a:p>
            <a:pPr lvl="0"/>
            <a:r>
              <a:rPr lang="en-IN" dirty="0" err="1"/>
              <a:t>TutorialsPoint</a:t>
            </a:r>
            <a:r>
              <a:rPr lang="en-IN" dirty="0"/>
              <a:t> – </a:t>
            </a:r>
            <a:r>
              <a:rPr lang="en-IN" i="1" dirty="0"/>
              <a:t>Backtracking Algorithms in Python</a:t>
            </a:r>
            <a:endParaRPr lang="en-IN" dirty="0"/>
          </a:p>
          <a:p>
            <a:pPr lvl="0"/>
            <a:r>
              <a:rPr lang="en-IN" dirty="0" err="1"/>
              <a:t>Programiz</a:t>
            </a:r>
            <a:r>
              <a:rPr lang="en-IN" dirty="0"/>
              <a:t> – </a:t>
            </a:r>
            <a:r>
              <a:rPr lang="en-IN" i="1" dirty="0"/>
              <a:t>Recursion and Backtracking in Python</a:t>
            </a:r>
            <a:endParaRPr lang="en-IN" dirty="0"/>
          </a:p>
          <a:p>
            <a:pPr lvl="0"/>
            <a:r>
              <a:rPr lang="en-IN" dirty="0"/>
              <a:t>YouTube: “Knight’s Tour Problem Explained” – Jenny’s Lectures CS/IT</a:t>
            </a:r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795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Office Theme</vt:lpstr>
      <vt:lpstr>DEPARTMENT OF CSE (ARTIFICIAL INTELLIGENCE AND MACHINE LEARNING) ACADEMIC YEAR 2025 - 2026 SEMESTER III ARTIFICIAL INTELLIGENCE LABORATORY  MINI PROJECT REVIEW   N-KNIGHT’S TOUR PROBLEM</vt:lpstr>
      <vt:lpstr>PROBLEM STATEMENT</vt:lpstr>
      <vt:lpstr>THEORETICAL BACKGROUND</vt:lpstr>
      <vt:lpstr>          JUSTIFICATION FOR CHOOSING BACKTRACKING   </vt:lpstr>
      <vt:lpstr>ALGORITHM EXPLANATION</vt:lpstr>
      <vt:lpstr>IMPLEMENTATION AND CODE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Harini S</cp:lastModifiedBy>
  <cp:revision>9</cp:revision>
  <dcterms:created xsi:type="dcterms:W3CDTF">2025-10-18T08:57:34Z</dcterms:created>
  <dcterms:modified xsi:type="dcterms:W3CDTF">2025-11-03T19:59:07Z</dcterms:modified>
</cp:coreProperties>
</file>